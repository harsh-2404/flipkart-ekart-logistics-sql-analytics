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5EB02-078E-43B2-B0D3-1C63C9E7EE81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39ED1-228D-4618-9ACF-043A54F2F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64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39ED1-228D-4618-9ACF-043A54F2FF9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47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69092-FF64-9A89-9A1F-43F64D4E8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12962-ED79-3231-4074-0503E9F9B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11FC1-A31B-204D-7CB8-F2BB6B24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13CCB-F0CF-201F-8D30-B293E0E6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4C2B5-2624-0C19-4679-EECD4AB23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12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97FC-67A5-BA7F-2197-93C3EE36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DFEAB-90DA-6B20-72AC-13EFF7980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A016B-6445-05C6-18E6-65D137961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18894-06A6-A36B-8B13-8C97BD3B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0897B-0E6B-DE78-1E4B-E2F3A12B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4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A3AE-A1FF-9C4E-35B0-7FF1442C2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14B7E-BBD2-BB78-2741-4053885D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64AC-5A18-1D7D-9C00-073D116F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00AA2-FA37-65E3-CEFF-8810243D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FE18A-E784-0F94-8476-B879C9BE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93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D8D6-08CD-2E78-DBB7-5DD0B9E7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7105F-6A45-AF10-6809-2D40481F7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C2C65-8973-27C0-E258-5B819BE79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12DEE-1102-9E4C-E0FF-27513357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27338-29DE-F603-FA16-F5DBB6F2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33818-E398-E8AD-5A0B-DAD8E6A3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51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B050A-88ED-F2EE-BFED-0D0D910A8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70832-F970-9394-94A9-4FE172C71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1C4D7-51F4-C755-036D-17326B813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FD7D4-9396-40F1-5541-CDF9C5F4C5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34105-4DF3-5DD3-F664-5194C0188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8B1AFF-1294-87C9-2605-8D11AD4CB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6B529F-75E7-B037-D165-D24FB656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45BFBD-6C49-D7F1-1B34-9D4E5C08E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8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D135-B241-258B-1976-9F02D1F5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124316-33DA-FD2D-1CE8-B28438E7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98697-AB8A-3389-46A6-CA8F0994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56CF4-743E-F7B4-EB3D-C32D23987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0A694-8CE0-807E-72B3-856C4073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264C93-7FE1-39C6-17A1-4B3B0F62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9E0D5-F48D-DAFB-F908-E10A5C65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7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E8D8-AA64-ED6F-272A-E7A43433E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A4611-96EE-933A-A9CC-F61C3AF83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3D05D-9B01-A84D-45BD-75322D222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E2ED4-A674-D592-A0AA-EFDDC588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350AF-5D18-31E2-E35D-9C90A032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5D0FC-B52C-5012-DEFE-30F0670E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02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EFD3D-BD90-6327-1691-D38B1071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C832D-317D-B3F3-7D57-BAE284B38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94141-D6E0-D4C2-6E2D-471D3D7851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80E00-D3B3-9F52-1C6F-6CC659540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CE1B6-2BF7-21BE-20E9-908861BA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C50FF-42C6-FC06-6EAF-27367292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67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69CDB-736F-8351-EA21-A837847A2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683DD-137D-C933-BDA7-CB583FB08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93320-D33B-E07E-2846-8FA96A2E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1E815-2F92-1C3E-3CBC-754CE2F4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A2899-DE3A-F38C-996A-9002A72EC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238C63-435D-E35E-058F-F427A9ED5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3EFC1-165F-D1BC-7A9D-E4C2EE4CE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07BBC-E062-7F11-8453-6121C1A9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18C81-6EDB-3B99-E998-854484A45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9DAFB-474A-B28C-CE18-8C595408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5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15D057-03F7-8DD9-6F51-A1403935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18D78-1687-A497-938C-42747393C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B0832-7E2F-35A5-D4A0-C04AE2594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21067-5D1D-4B13-8341-B6135DF632CA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F161-5566-8C16-23F3-C026B2A73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9401D-B083-06C5-9164-FD25A3565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98FE7-7FAC-4AB9-BC99-3BE02B309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66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F474E1-D6EA-91B9-0ADB-FBECDE698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1014574"/>
            <a:ext cx="9725730" cy="2226769"/>
          </a:xfrm>
        </p:spPr>
        <p:txBody>
          <a:bodyPr anchor="ctr"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Logistics Optimization for Delivery Routes – Flipkart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BEA21-7CB5-E511-72D7-D27E7D95A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640633"/>
            <a:ext cx="9725730" cy="2487212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Name: Harsh Srivastav  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Course: Data Science (15</a:t>
            </a:r>
            <a:r>
              <a:rPr lang="en-US" baseline="30000" dirty="0">
                <a:solidFill>
                  <a:schemeClr val="tx2"/>
                </a:solidFill>
              </a:rPr>
              <a:t>th</a:t>
            </a:r>
            <a:r>
              <a:rPr lang="en-US" dirty="0">
                <a:solidFill>
                  <a:schemeClr val="tx2"/>
                </a:solidFill>
              </a:rPr>
              <a:t> Jan Batch)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Tools used: MYSQL, Workbench, PowerPoint  </a:t>
            </a:r>
          </a:p>
        </p:txBody>
      </p:sp>
    </p:spTree>
    <p:extLst>
      <p:ext uri="{BB962C8B-B14F-4D97-AF65-F5344CB8AC3E}">
        <p14:creationId xmlns:p14="http://schemas.microsoft.com/office/powerpoint/2010/main" val="967232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957679-9D72-D5F0-E034-FA972DF100EA}"/>
              </a:ext>
            </a:extLst>
          </p:cNvPr>
          <p:cNvSpPr txBox="1"/>
          <p:nvPr/>
        </p:nvSpPr>
        <p:spPr>
          <a:xfrm>
            <a:off x="104172" y="81023"/>
            <a:ext cx="12087828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TASK 1: Data Cleaning &amp; Preparation</a:t>
            </a:r>
          </a:p>
          <a:p>
            <a:endParaRPr lang="en-US" sz="1400" b="1" dirty="0"/>
          </a:p>
          <a:p>
            <a:r>
              <a:rPr lang="en-US" sz="1400" b="1" dirty="0"/>
              <a:t>CASE 1:- Identify and delete duplicate </a:t>
            </a:r>
            <a:r>
              <a:rPr lang="en-US" sz="1400" b="1" dirty="0" err="1"/>
              <a:t>Order_ID</a:t>
            </a:r>
            <a:r>
              <a:rPr lang="en-US" sz="1400" b="1" dirty="0"/>
              <a:t> records.</a:t>
            </a:r>
          </a:p>
          <a:p>
            <a:endParaRPr lang="en-US" sz="1400" b="1" dirty="0"/>
          </a:p>
          <a:p>
            <a:r>
              <a:rPr lang="en-US" sz="1400" b="1" dirty="0"/>
              <a:t>QUERY:-</a:t>
            </a:r>
          </a:p>
          <a:p>
            <a:endParaRPr lang="en-US" sz="1400" b="1" dirty="0"/>
          </a:p>
          <a:p>
            <a:r>
              <a:rPr lang="en-US" sz="1400" dirty="0"/>
              <a:t>SELECT </a:t>
            </a:r>
            <a:r>
              <a:rPr lang="en-US" sz="1400" dirty="0" err="1"/>
              <a:t>Order_ID</a:t>
            </a:r>
            <a:r>
              <a:rPr lang="en-US" sz="1400" dirty="0"/>
              <a:t>, COUNT(*) </a:t>
            </a:r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Order_ID</a:t>
            </a:r>
            <a:endParaRPr lang="en-US" sz="1400" dirty="0"/>
          </a:p>
          <a:p>
            <a:r>
              <a:rPr lang="en-US" sz="1400" dirty="0"/>
              <a:t>HAVING COUNT(*) &gt; 1;</a:t>
            </a:r>
          </a:p>
          <a:p>
            <a:endParaRPr lang="en-US" sz="1400" dirty="0"/>
          </a:p>
          <a:p>
            <a:r>
              <a:rPr lang="en-US" sz="1400" b="1" dirty="0"/>
              <a:t>Output:- </a:t>
            </a:r>
            <a:r>
              <a:rPr lang="en-US" sz="1400" dirty="0"/>
              <a:t>No duplicate records found</a:t>
            </a:r>
          </a:p>
          <a:p>
            <a:endParaRPr lang="en-US" sz="1400" dirty="0"/>
          </a:p>
          <a:p>
            <a:r>
              <a:rPr lang="en-US" sz="1400" b="1" dirty="0"/>
              <a:t>Insight:-  </a:t>
            </a:r>
            <a:r>
              <a:rPr lang="en-US" sz="1400" dirty="0"/>
              <a:t>Dataset is clean with no duplicate </a:t>
            </a:r>
            <a:r>
              <a:rPr lang="en-US" sz="1400" dirty="0" err="1"/>
              <a:t>Order_ID</a:t>
            </a:r>
            <a:r>
              <a:rPr lang="en-US" sz="1400" dirty="0"/>
              <a:t> entries.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CASE 2:-  Replace null </a:t>
            </a:r>
            <a:r>
              <a:rPr lang="en-US" sz="1400" b="1" dirty="0" err="1"/>
              <a:t>Traffic_Delay_Min</a:t>
            </a:r>
            <a:r>
              <a:rPr lang="en-US" sz="1400" b="1" dirty="0"/>
              <a:t> with the average delay for that route.</a:t>
            </a:r>
          </a:p>
          <a:p>
            <a:endParaRPr lang="en-US" sz="1400" b="1" dirty="0"/>
          </a:p>
          <a:p>
            <a:r>
              <a:rPr lang="en-US" sz="1400" b="1" dirty="0"/>
              <a:t>QUERY:-</a:t>
            </a:r>
          </a:p>
          <a:p>
            <a:endParaRPr lang="en-US" sz="1400" b="1" dirty="0"/>
          </a:p>
          <a:p>
            <a:r>
              <a:rPr lang="en-US" sz="1400" dirty="0"/>
              <a:t>SELECT * </a:t>
            </a:r>
          </a:p>
          <a:p>
            <a:r>
              <a:rPr lang="en-US" sz="1400" dirty="0"/>
              <a:t>FROM routes</a:t>
            </a:r>
          </a:p>
          <a:p>
            <a:r>
              <a:rPr lang="en-US" sz="1400" dirty="0"/>
              <a:t>WHERE </a:t>
            </a:r>
            <a:r>
              <a:rPr lang="en-US" sz="1400" dirty="0" err="1"/>
              <a:t>Traffic_Delay_Min</a:t>
            </a:r>
            <a:r>
              <a:rPr lang="en-US" sz="1400" dirty="0"/>
              <a:t> IS NULL;</a:t>
            </a:r>
          </a:p>
          <a:p>
            <a:endParaRPr lang="en-US" sz="1400" dirty="0"/>
          </a:p>
          <a:p>
            <a:r>
              <a:rPr lang="en-US" sz="1400" b="1" dirty="0"/>
              <a:t>Output: </a:t>
            </a:r>
            <a:r>
              <a:rPr lang="en-US" sz="1400" dirty="0"/>
              <a:t>No NULL values found</a:t>
            </a:r>
          </a:p>
        </p:txBody>
      </p:sp>
    </p:spTree>
    <p:extLst>
      <p:ext uri="{BB962C8B-B14F-4D97-AF65-F5344CB8AC3E}">
        <p14:creationId xmlns:p14="http://schemas.microsoft.com/office/powerpoint/2010/main" val="3754682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4DEBE1-0DA2-F576-DA0A-F01FBA590356}"/>
              </a:ext>
            </a:extLst>
          </p:cNvPr>
          <p:cNvSpPr txBox="1"/>
          <p:nvPr/>
        </p:nvSpPr>
        <p:spPr>
          <a:xfrm>
            <a:off x="141673" y="0"/>
            <a:ext cx="11398827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CASE 3:- Convert all date columns into YYYY-MM-DD format using SQL functions.		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Order_Date</a:t>
            </a:r>
            <a:r>
              <a:rPr lang="en-US" sz="1400" dirty="0"/>
              <a:t> FROM orders;</a:t>
            </a:r>
          </a:p>
          <a:p>
            <a:endParaRPr lang="en-US" sz="1400" dirty="0"/>
          </a:p>
          <a:p>
            <a:r>
              <a:rPr lang="en-US" sz="1400" b="1" dirty="0"/>
              <a:t>Result: </a:t>
            </a:r>
            <a:r>
              <a:rPr lang="en-US" sz="1400" dirty="0"/>
              <a:t>Dates are already in (YYYY-MM-DD) format.</a:t>
            </a:r>
          </a:p>
          <a:p>
            <a:endParaRPr lang="en-US" sz="1400" dirty="0"/>
          </a:p>
          <a:p>
            <a:r>
              <a:rPr lang="en-US" sz="1400" b="1" dirty="0"/>
              <a:t>Insight: </a:t>
            </a:r>
            <a:r>
              <a:rPr lang="en-US" sz="1400" dirty="0"/>
              <a:t>All date fields were already in the required (YYYY-MM-DD) format.</a:t>
            </a:r>
          </a:p>
          <a:p>
            <a:r>
              <a:rPr lang="en-US" sz="1400" dirty="0"/>
              <a:t>No transformation was needed.</a:t>
            </a:r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CASE 4:- Ensure that no </a:t>
            </a:r>
            <a:r>
              <a:rPr lang="en-US" sz="1400" b="1" dirty="0" err="1"/>
              <a:t>Actual_Delivery_Date</a:t>
            </a:r>
            <a:r>
              <a:rPr lang="en-US" sz="1400" b="1" dirty="0"/>
              <a:t> is before </a:t>
            </a:r>
            <a:r>
              <a:rPr lang="en-US" sz="1400" b="1" dirty="0" err="1"/>
              <a:t>Order_Date</a:t>
            </a:r>
            <a:r>
              <a:rPr lang="en-US" sz="1400" b="1" dirty="0"/>
              <a:t> (flag such records).</a:t>
            </a:r>
          </a:p>
          <a:p>
            <a:endParaRPr lang="en-US" sz="1400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* </a:t>
            </a:r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WHERE </a:t>
            </a:r>
            <a:r>
              <a:rPr lang="en-US" sz="1400" dirty="0" err="1"/>
              <a:t>Actual_Delivery_Date</a:t>
            </a:r>
            <a:r>
              <a:rPr lang="en-US" sz="1400" dirty="0"/>
              <a:t> &lt; </a:t>
            </a:r>
            <a:r>
              <a:rPr lang="en-US" sz="1400" dirty="0" err="1"/>
              <a:t>Order_Date</a:t>
            </a:r>
            <a:r>
              <a:rPr lang="en-US" sz="1400" dirty="0"/>
              <a:t> </a:t>
            </a:r>
          </a:p>
          <a:p>
            <a:endParaRPr lang="en-US" sz="1400" dirty="0"/>
          </a:p>
          <a:p>
            <a:r>
              <a:rPr lang="en-US" sz="1400" b="1" dirty="0"/>
              <a:t>Result:- </a:t>
            </a:r>
            <a:r>
              <a:rPr lang="en-US" sz="1400" dirty="0"/>
              <a:t>No records found where Actual Delivery Date is before Order Date.</a:t>
            </a:r>
          </a:p>
          <a:p>
            <a:endParaRPr lang="en-US" sz="1400" dirty="0"/>
          </a:p>
          <a:p>
            <a:r>
              <a:rPr lang="en-US" sz="1400" b="1" dirty="0"/>
              <a:t>Insight:- </a:t>
            </a:r>
            <a:r>
              <a:rPr lang="en-US" sz="1400" dirty="0"/>
              <a:t>All delivery dates are valid, ensuring data consistency and reliability.</a:t>
            </a:r>
            <a:endParaRPr lang="en-US" sz="1400" b="1" dirty="0"/>
          </a:p>
          <a:p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48E4B1-807C-D5A1-4AF7-746560B0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40" y="2166045"/>
            <a:ext cx="1356741" cy="216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96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EA87B3-933F-33B0-06F1-B769296C8CAF}"/>
              </a:ext>
            </a:extLst>
          </p:cNvPr>
          <p:cNvSpPr txBox="1"/>
          <p:nvPr/>
        </p:nvSpPr>
        <p:spPr>
          <a:xfrm>
            <a:off x="93518" y="58846"/>
            <a:ext cx="1195993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TASK 2: Delivery Delay Analysis</a:t>
            </a:r>
          </a:p>
          <a:p>
            <a:pPr algn="ctr"/>
            <a:endParaRPr lang="en-US" sz="2000" b="1" dirty="0"/>
          </a:p>
          <a:p>
            <a:r>
              <a:rPr lang="en-US" sz="1400" b="1" dirty="0"/>
              <a:t>CASE 1:- Calculate delivery delay (in days) for each order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Order_ID</a:t>
            </a:r>
            <a:r>
              <a:rPr lang="en-US" sz="1400" dirty="0"/>
              <a:t>, DATEDIFF(</a:t>
            </a:r>
            <a:r>
              <a:rPr lang="en-US" sz="1400" dirty="0" err="1"/>
              <a:t>Actual_Delivery_Date</a:t>
            </a:r>
            <a:r>
              <a:rPr lang="en-US" sz="1400" dirty="0"/>
              <a:t>, </a:t>
            </a:r>
            <a:r>
              <a:rPr lang="en-US" sz="1400" dirty="0" err="1"/>
              <a:t>Expected_Delivery_Date</a:t>
            </a:r>
            <a:r>
              <a:rPr lang="en-US" sz="1400" dirty="0"/>
              <a:t>) AS </a:t>
            </a:r>
            <a:r>
              <a:rPr lang="en-US" sz="1400" dirty="0" err="1"/>
              <a:t>Delay_Days</a:t>
            </a:r>
            <a:endParaRPr lang="en-US" sz="1400" dirty="0"/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LIMIT 10;</a:t>
            </a:r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  <a:p>
            <a:r>
              <a:rPr lang="en-US" sz="1400" b="1" dirty="0"/>
              <a:t>CASE 2:- Find Top 10 delayed routes based on average delay days.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Route_ID</a:t>
            </a:r>
            <a:r>
              <a:rPr lang="en-US" sz="1400" dirty="0"/>
              <a:t>, AVG(DATEDIFF(</a:t>
            </a:r>
            <a:r>
              <a:rPr lang="en-US" sz="1400" dirty="0" err="1"/>
              <a:t>Actual_Delivery_Date</a:t>
            </a:r>
            <a:r>
              <a:rPr lang="en-US" sz="1400" dirty="0"/>
              <a:t>, </a:t>
            </a:r>
            <a:r>
              <a:rPr lang="en-US" sz="1400" dirty="0" err="1"/>
              <a:t>Expected_Delivery_Date</a:t>
            </a:r>
            <a:r>
              <a:rPr lang="en-US" sz="1400" dirty="0"/>
              <a:t>)) AS </a:t>
            </a:r>
            <a:r>
              <a:rPr lang="en-US" sz="1400" dirty="0" err="1"/>
              <a:t>avg_delay_days</a:t>
            </a:r>
            <a:endParaRPr lang="en-US" sz="1400" dirty="0"/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Route_ID</a:t>
            </a:r>
            <a:endParaRPr lang="en-US" sz="1400" dirty="0"/>
          </a:p>
          <a:p>
            <a:r>
              <a:rPr lang="en-US" sz="1400" dirty="0"/>
              <a:t>ORDER BY </a:t>
            </a:r>
            <a:r>
              <a:rPr lang="en-US" sz="1400" dirty="0" err="1"/>
              <a:t>avg_delay_days</a:t>
            </a:r>
            <a:r>
              <a:rPr lang="en-US" sz="1400" dirty="0"/>
              <a:t> DESC</a:t>
            </a:r>
          </a:p>
          <a:p>
            <a:r>
              <a:rPr lang="en-US" sz="1400" dirty="0"/>
              <a:t>LIMIT 10;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C5367-9CF4-3D92-1B16-1733EE07D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36" y="2583789"/>
            <a:ext cx="2521527" cy="200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28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119A6A-E3BD-AACD-05DF-03ED1B8EE0B4}"/>
              </a:ext>
            </a:extLst>
          </p:cNvPr>
          <p:cNvSpPr txBox="1"/>
          <p:nvPr/>
        </p:nvSpPr>
        <p:spPr>
          <a:xfrm>
            <a:off x="148936" y="145473"/>
            <a:ext cx="11284528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Output:-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CASE 3:- Use window functions to rank all orders by delay within each warehouse.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Order_ID</a:t>
            </a:r>
            <a:r>
              <a:rPr lang="en-US" sz="1400" dirty="0"/>
              <a:t>, </a:t>
            </a:r>
            <a:r>
              <a:rPr lang="en-US" sz="1400" dirty="0" err="1"/>
              <a:t>Warehouse_ID</a:t>
            </a:r>
            <a:r>
              <a:rPr lang="en-US" sz="1400" dirty="0"/>
              <a:t>, DATEDIFF(</a:t>
            </a:r>
            <a:r>
              <a:rPr lang="en-US" sz="1400" dirty="0" err="1"/>
              <a:t>Actual_Delivery_Date</a:t>
            </a:r>
            <a:r>
              <a:rPr lang="en-US" sz="1400" dirty="0"/>
              <a:t>, </a:t>
            </a:r>
            <a:r>
              <a:rPr lang="en-US" sz="1400" dirty="0" err="1"/>
              <a:t>Expected_Delivery_Date</a:t>
            </a:r>
            <a:r>
              <a:rPr lang="en-US" sz="1400" dirty="0"/>
              <a:t>) AS </a:t>
            </a:r>
            <a:r>
              <a:rPr lang="en-US" sz="1400" dirty="0" err="1"/>
              <a:t>Delay_Days</a:t>
            </a:r>
            <a:r>
              <a:rPr lang="en-US" sz="1400" dirty="0"/>
              <a:t>,</a:t>
            </a:r>
          </a:p>
          <a:p>
            <a:r>
              <a:rPr lang="en-US" sz="1400" dirty="0"/>
              <a:t>RANK() OVER(PARTITION BY </a:t>
            </a:r>
            <a:r>
              <a:rPr lang="en-US" sz="1400" dirty="0" err="1"/>
              <a:t>Warehouse_ID</a:t>
            </a:r>
            <a:r>
              <a:rPr lang="en-US" sz="1400" dirty="0"/>
              <a:t> ORDER BY DATEDIFF(</a:t>
            </a:r>
            <a:r>
              <a:rPr lang="en-US" sz="1400" dirty="0" err="1"/>
              <a:t>Actual_Delivery_Date</a:t>
            </a:r>
            <a:r>
              <a:rPr lang="en-US" sz="1400" dirty="0"/>
              <a:t>, </a:t>
            </a:r>
            <a:r>
              <a:rPr lang="en-US" sz="1400" dirty="0" err="1"/>
              <a:t>Expected_Delivery_Date</a:t>
            </a:r>
            <a:r>
              <a:rPr lang="en-US" sz="1400" dirty="0"/>
              <a:t>) DESC) AS </a:t>
            </a:r>
            <a:r>
              <a:rPr lang="en-US" sz="1400" dirty="0" err="1"/>
              <a:t>rank_in_warehouse</a:t>
            </a:r>
            <a:endParaRPr lang="en-US" sz="1400" dirty="0"/>
          </a:p>
          <a:p>
            <a:r>
              <a:rPr lang="en-US" sz="1400" dirty="0"/>
              <a:t>FROM orders;</a:t>
            </a:r>
          </a:p>
          <a:p>
            <a:endParaRPr lang="en-US" sz="1400" dirty="0"/>
          </a:p>
          <a:p>
            <a:r>
              <a:rPr lang="en-US" sz="1400" b="1" dirty="0"/>
              <a:t>Output:- 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D075C-7979-3870-098C-CDE27A24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90" y="290022"/>
            <a:ext cx="2722419" cy="1961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005856-2762-F585-2226-DA38DF72D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644" y="3993307"/>
            <a:ext cx="5694220" cy="271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04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78CCDA-1568-7D05-763F-6BEB21B66C4B}"/>
              </a:ext>
            </a:extLst>
          </p:cNvPr>
          <p:cNvSpPr txBox="1"/>
          <p:nvPr/>
        </p:nvSpPr>
        <p:spPr>
          <a:xfrm>
            <a:off x="140277" y="20782"/>
            <a:ext cx="11911445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TASK 3: Route Optimization Insights</a:t>
            </a:r>
          </a:p>
          <a:p>
            <a:pPr algn="ctr"/>
            <a:endParaRPr lang="en-US" sz="1400" b="1" dirty="0"/>
          </a:p>
          <a:p>
            <a:r>
              <a:rPr lang="en-US" sz="1400" b="1" dirty="0"/>
              <a:t>CASE 1:- For each route, calculate: Average delivery time (in days), Average traffic delay, Distance-to-time efficiency ratio: </a:t>
            </a:r>
          </a:p>
          <a:p>
            <a:r>
              <a:rPr lang="en-US" sz="1400" b="1" dirty="0"/>
              <a:t>	</a:t>
            </a:r>
            <a:r>
              <a:rPr lang="en-US" sz="1400" b="1" dirty="0" err="1"/>
              <a:t>Distance_KM</a:t>
            </a:r>
            <a:r>
              <a:rPr lang="en-US" sz="1400" b="1" dirty="0"/>
              <a:t> / </a:t>
            </a:r>
            <a:r>
              <a:rPr lang="en-US" sz="1400" b="1" dirty="0" err="1"/>
              <a:t>Average_Travel_Time_Min</a:t>
            </a:r>
            <a:r>
              <a:rPr lang="en-US" sz="1400" b="1" dirty="0"/>
              <a:t>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o.Route_ID</a:t>
            </a:r>
            <a:r>
              <a:rPr lang="en-US" sz="1400" dirty="0"/>
              <a:t>, AVG(DATEDIFF(</a:t>
            </a:r>
            <a:r>
              <a:rPr lang="en-US" sz="1400" dirty="0" err="1"/>
              <a:t>o.Actual_Delivery_Date</a:t>
            </a:r>
            <a:r>
              <a:rPr lang="en-US" sz="1400" dirty="0"/>
              <a:t>, </a:t>
            </a:r>
            <a:r>
              <a:rPr lang="en-US" sz="1400" dirty="0" err="1"/>
              <a:t>o.Order_Date</a:t>
            </a:r>
            <a:r>
              <a:rPr lang="en-US" sz="1400" dirty="0"/>
              <a:t>)) AS </a:t>
            </a:r>
            <a:r>
              <a:rPr lang="en-US" sz="1400" dirty="0" err="1"/>
              <a:t>avg_delivery_time_days</a:t>
            </a:r>
            <a:r>
              <a:rPr lang="en-US" sz="1400" dirty="0"/>
              <a:t>,</a:t>
            </a:r>
          </a:p>
          <a:p>
            <a:r>
              <a:rPr lang="en-US" sz="1400" dirty="0"/>
              <a:t>AVG(</a:t>
            </a:r>
            <a:r>
              <a:rPr lang="en-US" sz="1400" dirty="0" err="1"/>
              <a:t>r.Traffic_Delay_Min</a:t>
            </a:r>
            <a:r>
              <a:rPr lang="en-US" sz="1400" dirty="0"/>
              <a:t>) AS </a:t>
            </a:r>
            <a:r>
              <a:rPr lang="en-US" sz="1400" dirty="0" err="1"/>
              <a:t>avg_traffic_delay</a:t>
            </a:r>
            <a:r>
              <a:rPr lang="en-US" sz="1400" dirty="0"/>
              <a:t>,</a:t>
            </a:r>
          </a:p>
          <a:p>
            <a:r>
              <a:rPr lang="en-US" sz="1400" dirty="0"/>
              <a:t>(</a:t>
            </a:r>
            <a:r>
              <a:rPr lang="en-US" sz="1400" dirty="0" err="1"/>
              <a:t>r.Distance_KM</a:t>
            </a:r>
            <a:r>
              <a:rPr lang="en-US" sz="1400" dirty="0"/>
              <a:t> / </a:t>
            </a:r>
            <a:r>
              <a:rPr lang="en-US" sz="1400" dirty="0" err="1"/>
              <a:t>r.Average_Travel_Time_Min</a:t>
            </a:r>
            <a:r>
              <a:rPr lang="en-US" sz="1400" dirty="0"/>
              <a:t>) AS </a:t>
            </a:r>
            <a:r>
              <a:rPr lang="en-US" sz="1400" dirty="0" err="1"/>
              <a:t>efficiency_ratio</a:t>
            </a:r>
            <a:endParaRPr lang="en-US" sz="1400" dirty="0"/>
          </a:p>
          <a:p>
            <a:r>
              <a:rPr lang="en-US" sz="1400" dirty="0"/>
              <a:t>FROM orders o</a:t>
            </a:r>
          </a:p>
          <a:p>
            <a:r>
              <a:rPr lang="en-US" sz="1400" dirty="0"/>
              <a:t>JOIN routes r</a:t>
            </a:r>
          </a:p>
          <a:p>
            <a:r>
              <a:rPr lang="en-US" sz="1400" dirty="0"/>
              <a:t>ON </a:t>
            </a:r>
            <a:r>
              <a:rPr lang="en-US" sz="1400" dirty="0" err="1"/>
              <a:t>o.Route_ID</a:t>
            </a:r>
            <a:r>
              <a:rPr lang="en-US" sz="1400" dirty="0"/>
              <a:t> = </a:t>
            </a:r>
            <a:r>
              <a:rPr lang="en-US" sz="1400" dirty="0" err="1"/>
              <a:t>r.Route_ID</a:t>
            </a:r>
            <a:endParaRPr lang="en-US" sz="1400" dirty="0"/>
          </a:p>
          <a:p>
            <a:r>
              <a:rPr lang="en-US" sz="1400" dirty="0"/>
              <a:t>GROUP BY </a:t>
            </a:r>
            <a:r>
              <a:rPr lang="en-US" sz="1400" dirty="0" err="1"/>
              <a:t>o.Route_ID</a:t>
            </a:r>
            <a:r>
              <a:rPr lang="en-US" sz="1400" dirty="0"/>
              <a:t>, </a:t>
            </a:r>
            <a:r>
              <a:rPr lang="en-US" sz="1400" dirty="0" err="1"/>
              <a:t>r.Distance_KM</a:t>
            </a:r>
            <a:r>
              <a:rPr lang="en-US" sz="1400" dirty="0"/>
              <a:t>, </a:t>
            </a:r>
            <a:r>
              <a:rPr lang="en-US" sz="1400" dirty="0" err="1"/>
              <a:t>r.Average_Travel_Time_Min</a:t>
            </a:r>
            <a:endParaRPr lang="en-US" sz="1400" dirty="0"/>
          </a:p>
          <a:p>
            <a:r>
              <a:rPr lang="en-US" sz="1400" dirty="0"/>
              <a:t>ORDER BY </a:t>
            </a:r>
            <a:r>
              <a:rPr lang="en-US" sz="1400" dirty="0" err="1"/>
              <a:t>o.Route_ID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AE51A-66E5-10AB-18CA-0F88E469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7" y="3356263"/>
            <a:ext cx="5174673" cy="339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462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E5702-12CA-A0AF-7520-4BEB0C341D02}"/>
              </a:ext>
            </a:extLst>
          </p:cNvPr>
          <p:cNvSpPr txBox="1"/>
          <p:nvPr/>
        </p:nvSpPr>
        <p:spPr>
          <a:xfrm>
            <a:off x="0" y="0"/>
            <a:ext cx="12192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CASE 2:- Identify 3 routes with the worst efficiency ratio.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Route_ID</a:t>
            </a:r>
            <a:r>
              <a:rPr lang="en-US" sz="1400" dirty="0"/>
              <a:t>,</a:t>
            </a:r>
          </a:p>
          <a:p>
            <a:r>
              <a:rPr lang="en-US" sz="1400" dirty="0"/>
              <a:t>(</a:t>
            </a:r>
            <a:r>
              <a:rPr lang="en-US" sz="1400" dirty="0" err="1"/>
              <a:t>Distance_KM</a:t>
            </a:r>
            <a:r>
              <a:rPr lang="en-US" sz="1400" dirty="0"/>
              <a:t> / </a:t>
            </a:r>
            <a:r>
              <a:rPr lang="en-US" sz="1400" dirty="0" err="1"/>
              <a:t>Average_Travel_Time_Min</a:t>
            </a:r>
            <a:r>
              <a:rPr lang="en-US" sz="1400" dirty="0"/>
              <a:t>) AS </a:t>
            </a:r>
            <a:r>
              <a:rPr lang="en-US" sz="1400" dirty="0" err="1"/>
              <a:t>efficiency_ratio</a:t>
            </a:r>
            <a:endParaRPr lang="en-US" sz="1400" dirty="0"/>
          </a:p>
          <a:p>
            <a:r>
              <a:rPr lang="en-US" sz="1400" dirty="0"/>
              <a:t>FROM routes</a:t>
            </a:r>
          </a:p>
          <a:p>
            <a:r>
              <a:rPr lang="en-US" sz="1400" dirty="0"/>
              <a:t>ORDER BY </a:t>
            </a:r>
            <a:r>
              <a:rPr lang="en-US" sz="1400" dirty="0" err="1"/>
              <a:t>efficiency_ratio</a:t>
            </a:r>
            <a:r>
              <a:rPr lang="en-US" sz="1400" dirty="0"/>
              <a:t> ASC</a:t>
            </a:r>
          </a:p>
          <a:p>
            <a:r>
              <a:rPr lang="en-US" sz="1400" dirty="0"/>
              <a:t>LIMIT 3;</a:t>
            </a:r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Insight: </a:t>
            </a:r>
            <a:r>
              <a:rPr lang="en-US" sz="1400" dirty="0"/>
              <a:t>Routes with lowest efficiency ratio indicate poor travel performance and require optimization.</a:t>
            </a:r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CASE 3:- Find routes with &gt;20% delayed shipments.</a:t>
            </a:r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Route_ID</a:t>
            </a:r>
            <a:r>
              <a:rPr lang="en-US" sz="1400" dirty="0"/>
              <a:t>,</a:t>
            </a:r>
          </a:p>
          <a:p>
            <a:r>
              <a:rPr lang="en-US" sz="1400" dirty="0"/>
              <a:t>SUM(CASE</a:t>
            </a:r>
          </a:p>
          <a:p>
            <a:r>
              <a:rPr lang="en-US" sz="1400" dirty="0"/>
              <a:t>	WHEN </a:t>
            </a:r>
            <a:r>
              <a:rPr lang="en-US" sz="1400" dirty="0" err="1"/>
              <a:t>Actual_Delivery_Date</a:t>
            </a:r>
            <a:r>
              <a:rPr lang="en-US" sz="1400" dirty="0"/>
              <a:t> &gt; </a:t>
            </a:r>
            <a:r>
              <a:rPr lang="en-US" sz="1400" dirty="0" err="1"/>
              <a:t>Expected_Delivery_Date</a:t>
            </a:r>
            <a:r>
              <a:rPr lang="en-US" sz="1400" dirty="0"/>
              <a:t> THEN 1</a:t>
            </a:r>
          </a:p>
          <a:p>
            <a:r>
              <a:rPr lang="en-US" sz="1400" dirty="0"/>
              <a:t>	ELSE 0</a:t>
            </a:r>
          </a:p>
          <a:p>
            <a:r>
              <a:rPr lang="en-US" sz="1400" dirty="0"/>
              <a:t>	END) AS </a:t>
            </a:r>
            <a:r>
              <a:rPr lang="en-US" sz="1400" dirty="0" err="1"/>
              <a:t>delayed_orders</a:t>
            </a:r>
            <a:r>
              <a:rPr lang="en-US" sz="1400" dirty="0"/>
              <a:t>,</a:t>
            </a:r>
          </a:p>
          <a:p>
            <a:r>
              <a:rPr lang="en-US" sz="1400" dirty="0"/>
              <a:t>COUNT(*) AS </a:t>
            </a:r>
            <a:r>
              <a:rPr lang="en-US" sz="1400" dirty="0" err="1"/>
              <a:t>total_orders</a:t>
            </a:r>
            <a:r>
              <a:rPr lang="en-US" sz="1400" dirty="0"/>
              <a:t>,</a:t>
            </a:r>
          </a:p>
          <a:p>
            <a:r>
              <a:rPr lang="en-US" sz="1400" dirty="0"/>
              <a:t>ROUND(SUM(CASE </a:t>
            </a:r>
          </a:p>
          <a:p>
            <a:r>
              <a:rPr lang="en-US" sz="1400" dirty="0"/>
              <a:t>	                 WHEN </a:t>
            </a:r>
            <a:r>
              <a:rPr lang="en-US" sz="1400" dirty="0" err="1"/>
              <a:t>Actual_Delivery_Date</a:t>
            </a:r>
            <a:r>
              <a:rPr lang="en-US" sz="1400" dirty="0"/>
              <a:t> &gt; </a:t>
            </a:r>
            <a:r>
              <a:rPr lang="en-US" sz="1400" dirty="0" err="1"/>
              <a:t>Expected_Delivery_Date</a:t>
            </a:r>
            <a:r>
              <a:rPr lang="en-US" sz="1400" dirty="0"/>
              <a:t> THEN 1</a:t>
            </a:r>
          </a:p>
          <a:p>
            <a:r>
              <a:rPr lang="en-US" sz="1400" dirty="0"/>
              <a:t>	                 ELSE 0</a:t>
            </a:r>
          </a:p>
          <a:p>
            <a:r>
              <a:rPr lang="en-US" sz="1400" dirty="0"/>
              <a:t>	                 END)* 100 / COUNT(*), 2) AS </a:t>
            </a:r>
            <a:r>
              <a:rPr lang="en-US" sz="1400" dirty="0" err="1"/>
              <a:t>delay_percentage</a:t>
            </a:r>
            <a:endParaRPr lang="en-US" sz="1400" dirty="0"/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Route_ID</a:t>
            </a:r>
            <a:endParaRPr lang="en-US" sz="1400" dirty="0"/>
          </a:p>
          <a:p>
            <a:r>
              <a:rPr lang="en-US" sz="1400" dirty="0"/>
              <a:t>HAVING </a:t>
            </a:r>
            <a:r>
              <a:rPr lang="en-US" sz="1400" dirty="0" err="1"/>
              <a:t>delay_percentage</a:t>
            </a:r>
            <a:r>
              <a:rPr lang="en-US" sz="1400" dirty="0"/>
              <a:t> &gt; 20;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25DBC6-0B6D-F291-86A8-2C63D62B7B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296"/>
          <a:stretch>
            <a:fillRect/>
          </a:stretch>
        </p:blipFill>
        <p:spPr>
          <a:xfrm>
            <a:off x="818547" y="2026571"/>
            <a:ext cx="2922180" cy="99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6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29F114-DFAA-8954-3159-E52116A3FD23}"/>
              </a:ext>
            </a:extLst>
          </p:cNvPr>
          <p:cNvSpPr txBox="1"/>
          <p:nvPr/>
        </p:nvSpPr>
        <p:spPr>
          <a:xfrm>
            <a:off x="0" y="41564"/>
            <a:ext cx="1219200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Insight: </a:t>
            </a:r>
            <a:r>
              <a:rPr lang="en-US" sz="1400" dirty="0"/>
              <a:t>Routes with more than 20% delayed shipments indicate consistent inefficiencies.</a:t>
            </a:r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CASE 4: Recommend potential routes for optimization.</a:t>
            </a:r>
          </a:p>
          <a:p>
            <a:endParaRPr lang="en-US" sz="1400" b="1" dirty="0"/>
          </a:p>
          <a:p>
            <a:r>
              <a:rPr lang="en-US" sz="1500" b="1" dirty="0"/>
              <a:t>Recommendations: </a:t>
            </a:r>
          </a:p>
          <a:p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dirty="0"/>
              <a:t>Routes with </a:t>
            </a:r>
            <a:r>
              <a:rPr lang="en-US" sz="1400" b="1" dirty="0"/>
              <a:t>low efficiency </a:t>
            </a:r>
            <a:r>
              <a:rPr lang="en-US" sz="1400" dirty="0"/>
              <a:t>(such as </a:t>
            </a:r>
            <a:r>
              <a:rPr lang="en-US" sz="1400" b="1" dirty="0"/>
              <a:t>RT_13, RT_14, RT_03, RT_17</a:t>
            </a:r>
            <a:r>
              <a:rPr lang="en-US" sz="1400" dirty="0"/>
              <a:t>) should be improved by optimizing route planning and selecting shorter or faster paths.</a:t>
            </a:r>
          </a:p>
          <a:p>
            <a:pPr marL="342900" indent="-342900">
              <a:buAutoNum type="arabicPeriod"/>
            </a:pPr>
            <a:r>
              <a:rPr lang="en-US" sz="1400" dirty="0"/>
              <a:t>Routes with </a:t>
            </a:r>
            <a:r>
              <a:rPr lang="en-US" sz="1400" b="1" dirty="0"/>
              <a:t>high traffic delays </a:t>
            </a:r>
            <a:r>
              <a:rPr lang="en-US" sz="1400" dirty="0"/>
              <a:t>(like </a:t>
            </a:r>
            <a:r>
              <a:rPr lang="en-US" sz="1400" b="1" dirty="0"/>
              <a:t>RT_08, RT_15, RT_17, RT_09</a:t>
            </a:r>
            <a:r>
              <a:rPr lang="en-US" sz="1400" dirty="0"/>
              <a:t>) should use alternate routes and avoid peak traffic hours to reduce congestion(overcrowding).</a:t>
            </a:r>
          </a:p>
          <a:p>
            <a:pPr marL="342900" indent="-342900">
              <a:buAutoNum type="arabicPeriod"/>
            </a:pPr>
            <a:r>
              <a:rPr lang="en-US" sz="1400" dirty="0"/>
              <a:t>Routes experiencing </a:t>
            </a:r>
            <a:r>
              <a:rPr lang="en-US" sz="1400" b="1" dirty="0"/>
              <a:t>both high delay and high traffic </a:t>
            </a:r>
            <a:r>
              <a:rPr lang="en-US" sz="1400" dirty="0"/>
              <a:t>(e.g., </a:t>
            </a:r>
            <a:r>
              <a:rPr lang="en-US" sz="1400" b="1" dirty="0"/>
              <a:t>RT_15, RT_17</a:t>
            </a:r>
            <a:r>
              <a:rPr lang="en-US" sz="1400" dirty="0"/>
              <a:t>) requires advanced traffic management strategies such as adjust delivery timings (like early morning or at night) and apply dynamic routing (change route during travel).</a:t>
            </a:r>
          </a:p>
          <a:p>
            <a:pPr marL="342900" indent="-342900">
              <a:buAutoNum type="arabicPeriod"/>
            </a:pPr>
            <a:r>
              <a:rPr lang="en-US" sz="1400" dirty="0"/>
              <a:t>Routes with </a:t>
            </a:r>
            <a:r>
              <a:rPr lang="en-US" sz="1400" b="1" dirty="0"/>
              <a:t>high delivery time </a:t>
            </a:r>
            <a:r>
              <a:rPr lang="en-US" sz="1400" dirty="0"/>
              <a:t>(such as </a:t>
            </a:r>
            <a:r>
              <a:rPr lang="en-US" sz="1400" b="1" dirty="0"/>
              <a:t>RT_02, RT_16</a:t>
            </a:r>
            <a:r>
              <a:rPr lang="en-US" sz="1400" dirty="0"/>
              <a:t>) should be improving by assigning experienced agents and improving warehouse processing efficiency.</a:t>
            </a:r>
          </a:p>
          <a:p>
            <a:pPr marL="342900" indent="-342900">
              <a:buAutoNum type="arabicPeriod"/>
            </a:pPr>
            <a:r>
              <a:rPr lang="en-US" sz="1400" b="1" dirty="0"/>
              <a:t>High-performing routes</a:t>
            </a:r>
            <a:r>
              <a:rPr lang="en-US" sz="1400" dirty="0"/>
              <a:t> (like </a:t>
            </a:r>
            <a:r>
              <a:rPr lang="en-US" sz="1400" b="1" dirty="0"/>
              <a:t>RT_10. RT_12, RT_19</a:t>
            </a:r>
            <a:r>
              <a:rPr lang="en-US" sz="1400" dirty="0"/>
              <a:t>) should be used as</a:t>
            </a:r>
            <a:r>
              <a:rPr lang="en-US" sz="1400" b="1" dirty="0"/>
              <a:t> benchmarks </a:t>
            </a:r>
            <a:r>
              <a:rPr lang="en-US" sz="1400" dirty="0"/>
              <a:t>for optimizing other routes.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E4C15-AF9E-1F74-5198-51A147820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84" y="41564"/>
            <a:ext cx="4630315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17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00FC69-B3D1-0F44-F82A-770710A17A79}"/>
              </a:ext>
            </a:extLst>
          </p:cNvPr>
          <p:cNvSpPr txBox="1"/>
          <p:nvPr/>
        </p:nvSpPr>
        <p:spPr>
          <a:xfrm>
            <a:off x="64077" y="83127"/>
            <a:ext cx="1206384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TASK 4: Warehouse Performance</a:t>
            </a:r>
          </a:p>
          <a:p>
            <a:pPr algn="ctr"/>
            <a:endParaRPr lang="en-US" b="1" dirty="0"/>
          </a:p>
          <a:p>
            <a:r>
              <a:rPr lang="en-US" sz="1400" b="1" dirty="0"/>
              <a:t>CASE 1: Find the top 3 warehouses with the highest average processing time.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Warehouse_ID</a:t>
            </a:r>
            <a:r>
              <a:rPr lang="en-US" sz="1400" dirty="0"/>
              <a:t>, </a:t>
            </a:r>
            <a:r>
              <a:rPr lang="en-US" sz="1400" dirty="0" err="1"/>
              <a:t>Warehouse_Name</a:t>
            </a:r>
            <a:r>
              <a:rPr lang="en-US" sz="1400" dirty="0"/>
              <a:t>, </a:t>
            </a:r>
            <a:r>
              <a:rPr lang="en-US" sz="1400" dirty="0" err="1"/>
              <a:t>Average_Processing_Time_Min</a:t>
            </a:r>
            <a:endParaRPr lang="en-US" sz="1400" dirty="0"/>
          </a:p>
          <a:p>
            <a:r>
              <a:rPr lang="en-US" sz="1400" dirty="0"/>
              <a:t>FROM warehouses</a:t>
            </a:r>
          </a:p>
          <a:p>
            <a:r>
              <a:rPr lang="en-US" sz="1400" dirty="0"/>
              <a:t>ORDER BY </a:t>
            </a:r>
            <a:r>
              <a:rPr lang="en-US" sz="1400" dirty="0" err="1"/>
              <a:t>Average_Processing_Time_Min</a:t>
            </a:r>
            <a:r>
              <a:rPr lang="en-US" sz="1400" dirty="0"/>
              <a:t> DESC</a:t>
            </a:r>
          </a:p>
          <a:p>
            <a:r>
              <a:rPr lang="en-US" sz="1400" dirty="0"/>
              <a:t>LIMIT 3;</a:t>
            </a:r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Insight: </a:t>
            </a:r>
            <a:r>
              <a:rPr lang="en-US" sz="1400" dirty="0"/>
              <a:t>Warehouses with the highest processing time indicate slower internal operations and require optimization.</a:t>
            </a:r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CASE 2: Calculate total vs. delayed shipments for each warehouse.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                  </a:t>
            </a:r>
            <a:r>
              <a:rPr lang="en-US" sz="1400" dirty="0" err="1"/>
              <a:t>Warehouse_ID</a:t>
            </a:r>
            <a:r>
              <a:rPr lang="en-US" sz="1400" dirty="0"/>
              <a:t>, </a:t>
            </a:r>
          </a:p>
          <a:p>
            <a:r>
              <a:rPr lang="en-US" sz="1400" dirty="0"/>
              <a:t>                  COUNT(*) AS </a:t>
            </a:r>
            <a:r>
              <a:rPr lang="en-US" sz="1400" dirty="0" err="1"/>
              <a:t>total_shipments</a:t>
            </a:r>
            <a:r>
              <a:rPr lang="en-US" sz="1400" dirty="0"/>
              <a:t>,</a:t>
            </a:r>
          </a:p>
          <a:p>
            <a:r>
              <a:rPr lang="en-US" sz="1400" dirty="0"/>
              <a:t>                  SUM(CASE WHEN </a:t>
            </a:r>
            <a:r>
              <a:rPr lang="en-US" sz="1400" dirty="0" err="1"/>
              <a:t>Actual_Delivery_Date</a:t>
            </a:r>
            <a:r>
              <a:rPr lang="en-US" sz="1400" dirty="0"/>
              <a:t> &gt; </a:t>
            </a:r>
            <a:r>
              <a:rPr lang="en-US" sz="1400" dirty="0" err="1"/>
              <a:t>Expected_Delivery_Date</a:t>
            </a:r>
            <a:r>
              <a:rPr lang="en-US" sz="1400" dirty="0"/>
              <a:t> THEN 1 ELSE 0 END) AS </a:t>
            </a:r>
            <a:r>
              <a:rPr lang="en-US" sz="1400" dirty="0" err="1"/>
              <a:t>delayed_shipments</a:t>
            </a:r>
            <a:endParaRPr lang="en-US" sz="1400" dirty="0"/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Warehouse_ID</a:t>
            </a:r>
            <a:r>
              <a:rPr lang="en-US" sz="1400" dirty="0"/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E3615F-F689-7AB5-A336-1A14733E4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40" y="2453005"/>
            <a:ext cx="5869523" cy="97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29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19607D-CEF0-2F40-797B-ACEA5D0E8624}"/>
              </a:ext>
            </a:extLst>
          </p:cNvPr>
          <p:cNvSpPr txBox="1"/>
          <p:nvPr/>
        </p:nvSpPr>
        <p:spPr>
          <a:xfrm>
            <a:off x="43295" y="72736"/>
            <a:ext cx="12105409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Insight: </a:t>
            </a:r>
            <a:r>
              <a:rPr lang="en-US" sz="1400" dirty="0"/>
              <a:t>Warehouses with higher delay percentages show inefficiencies in order processing and delivery coordination.</a:t>
            </a:r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CASE 3: Use CTEs to find bottleneck warehouses where processing time &gt; global average.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WITH fly AS (SELECT AVG(</a:t>
            </a:r>
            <a:r>
              <a:rPr lang="en-US" sz="1400" dirty="0" err="1"/>
              <a:t>Average_Processing_Time_Min</a:t>
            </a:r>
            <a:r>
              <a:rPr lang="en-US" sz="1400" dirty="0"/>
              <a:t>) AS </a:t>
            </a:r>
            <a:r>
              <a:rPr lang="en-US" sz="1400" dirty="0" err="1"/>
              <a:t>global_average</a:t>
            </a:r>
            <a:endParaRPr lang="en-US" sz="1400" dirty="0"/>
          </a:p>
          <a:p>
            <a:r>
              <a:rPr lang="en-US" sz="1400" dirty="0"/>
              <a:t>	FROM warehouses)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w.Warehouse_ID</a:t>
            </a:r>
            <a:r>
              <a:rPr lang="en-US" sz="1400" dirty="0"/>
              <a:t>, </a:t>
            </a:r>
            <a:r>
              <a:rPr lang="en-US" sz="1400" dirty="0" err="1"/>
              <a:t>w.Warehouse_Name</a:t>
            </a:r>
            <a:r>
              <a:rPr lang="en-US" sz="1400" dirty="0"/>
              <a:t>, </a:t>
            </a:r>
            <a:r>
              <a:rPr lang="en-US" sz="1400" dirty="0" err="1"/>
              <a:t>w.Average_Processing_Time_Min</a:t>
            </a:r>
            <a:br>
              <a:rPr lang="en-US" sz="1400" dirty="0"/>
            </a:br>
            <a:r>
              <a:rPr lang="en-US" sz="1400" dirty="0"/>
              <a:t>FROM warehouses AS w, fly AS f</a:t>
            </a:r>
          </a:p>
          <a:p>
            <a:r>
              <a:rPr lang="en-US" sz="1400" dirty="0"/>
              <a:t>WHERE </a:t>
            </a:r>
            <a:r>
              <a:rPr lang="en-US" sz="1400" dirty="0" err="1"/>
              <a:t>w.Average_Processing_Time_Min</a:t>
            </a:r>
            <a:r>
              <a:rPr lang="en-US" sz="1400" dirty="0"/>
              <a:t> &gt; </a:t>
            </a:r>
            <a:r>
              <a:rPr lang="en-US" sz="1400" dirty="0" err="1"/>
              <a:t>f.global_average</a:t>
            </a:r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86B40-03E0-03AA-AEBD-EF4845F43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39" y="72736"/>
            <a:ext cx="4093415" cy="24210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F53153-A48A-E731-5A5E-5C78E7BB1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61" y="5000084"/>
            <a:ext cx="5821466" cy="167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29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0B3881-49D5-5DCE-368B-1A5055934B75}"/>
              </a:ext>
            </a:extLst>
          </p:cNvPr>
          <p:cNvSpPr txBox="1"/>
          <p:nvPr/>
        </p:nvSpPr>
        <p:spPr>
          <a:xfrm>
            <a:off x="58882" y="0"/>
            <a:ext cx="12133118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Insight: </a:t>
            </a:r>
            <a:r>
              <a:rPr lang="en-US" sz="1400" dirty="0"/>
              <a:t>Warehouses with processing time above the global average act as bottlenecks in the logistics system. A bottleneck is a stage in a process that reduces overall efficiency because it operates slower than others.</a:t>
            </a:r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CASE 4: Rank warehouses based on on-time delivery percentage.</a:t>
            </a:r>
          </a:p>
          <a:p>
            <a:r>
              <a:rPr lang="en-US" sz="1400" b="1" dirty="0"/>
              <a:t>QUERY 1: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Warehouse_ID</a:t>
            </a:r>
            <a:r>
              <a:rPr lang="en-US" sz="1400" dirty="0"/>
              <a:t>,</a:t>
            </a:r>
          </a:p>
          <a:p>
            <a:r>
              <a:rPr lang="en-US" sz="1400" dirty="0"/>
              <a:t>ROUND(</a:t>
            </a:r>
          </a:p>
          <a:p>
            <a:r>
              <a:rPr lang="en-US" sz="1400" dirty="0"/>
              <a:t>	SUM(CASE</a:t>
            </a:r>
          </a:p>
          <a:p>
            <a:r>
              <a:rPr lang="en-US" sz="1400" dirty="0"/>
              <a:t>		WHEN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THEN 1</a:t>
            </a:r>
          </a:p>
          <a:p>
            <a:r>
              <a:rPr lang="en-US" sz="1400" dirty="0"/>
              <a:t>		ELSE 0</a:t>
            </a:r>
          </a:p>
          <a:p>
            <a:r>
              <a:rPr lang="en-US" sz="1400" dirty="0"/>
              <a:t>		END)*100 / COUNT(*), 2</a:t>
            </a:r>
          </a:p>
          <a:p>
            <a:r>
              <a:rPr lang="en-US" sz="1400" dirty="0"/>
              <a:t>	) AS </a:t>
            </a:r>
            <a:r>
              <a:rPr lang="en-US" sz="1400" dirty="0" err="1"/>
              <a:t>on_time_delivery_percentage</a:t>
            </a:r>
            <a:r>
              <a:rPr lang="en-US" sz="1400" dirty="0"/>
              <a:t>,</a:t>
            </a:r>
          </a:p>
          <a:p>
            <a:r>
              <a:rPr lang="en-US" sz="1400" dirty="0"/>
              <a:t>RANK() OVER(</a:t>
            </a:r>
          </a:p>
          <a:p>
            <a:r>
              <a:rPr lang="en-US" sz="1400" dirty="0"/>
              <a:t>	    ORDER BY SUM(CASE WHEN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THEN 1 ELSE 0 END)*100 / COUNT(*) DESC</a:t>
            </a:r>
          </a:p>
          <a:p>
            <a:r>
              <a:rPr lang="en-US" sz="1400" dirty="0"/>
              <a:t>	   ) AS </a:t>
            </a:r>
            <a:r>
              <a:rPr lang="en-US" sz="1400" dirty="0" err="1"/>
              <a:t>performance_rank</a:t>
            </a:r>
            <a:endParaRPr lang="en-US" sz="1400" dirty="0"/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Warehouse_ID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en-US" sz="1400" b="1" dirty="0"/>
              <a:t>QUERY 2:</a:t>
            </a:r>
          </a:p>
          <a:p>
            <a:r>
              <a:rPr lang="en-US" sz="1400" dirty="0"/>
              <a:t>WITH </a:t>
            </a:r>
            <a:r>
              <a:rPr lang="en-US" sz="1400" dirty="0" err="1"/>
              <a:t>warehouse_rank</a:t>
            </a:r>
            <a:r>
              <a:rPr lang="en-US" sz="1400" dirty="0"/>
              <a:t> AS (</a:t>
            </a:r>
          </a:p>
          <a:p>
            <a:r>
              <a:rPr lang="en-US" sz="1400" dirty="0"/>
              <a:t>		SELECT </a:t>
            </a:r>
            <a:r>
              <a:rPr lang="en-US" sz="1400" dirty="0" err="1"/>
              <a:t>Warehouse_ID</a:t>
            </a:r>
            <a:r>
              <a:rPr lang="en-US" sz="1400" dirty="0"/>
              <a:t>,</a:t>
            </a:r>
          </a:p>
          <a:p>
            <a:r>
              <a:rPr lang="en-US" sz="1400" dirty="0"/>
              <a:t>ROUND(</a:t>
            </a:r>
          </a:p>
          <a:p>
            <a:r>
              <a:rPr lang="en-US" sz="1400" dirty="0"/>
              <a:t>	SUM(CASE WHEN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THEN 1 ELSE 0 END)*100 / COUNT(*), 2				)AS </a:t>
            </a:r>
            <a:r>
              <a:rPr lang="en-US" sz="1400" dirty="0" err="1"/>
              <a:t>on_time_delivery_percentage</a:t>
            </a:r>
            <a:endParaRPr lang="en-US" sz="1400" dirty="0"/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Warehouse_ID</a:t>
            </a:r>
            <a:endParaRPr lang="en-US" sz="1400" dirty="0"/>
          </a:p>
          <a:p>
            <a:r>
              <a:rPr lang="en-US" sz="1400" dirty="0"/>
              <a:t>)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Warehouse_ID</a:t>
            </a:r>
            <a:r>
              <a:rPr lang="en-US" sz="1400" dirty="0"/>
              <a:t>, </a:t>
            </a:r>
            <a:r>
              <a:rPr lang="en-US" sz="1400" dirty="0" err="1"/>
              <a:t>on_time_delivery_percentage</a:t>
            </a:r>
            <a:r>
              <a:rPr lang="en-US" sz="1400" dirty="0"/>
              <a:t>,</a:t>
            </a:r>
          </a:p>
          <a:p>
            <a:r>
              <a:rPr lang="en-US" sz="1400" dirty="0"/>
              <a:t>RANK() OVER(ORDER BY </a:t>
            </a:r>
            <a:r>
              <a:rPr lang="en-US" sz="1400" dirty="0" err="1"/>
              <a:t>on_time_delivery_percentage</a:t>
            </a:r>
            <a:r>
              <a:rPr lang="en-US" sz="1400" dirty="0"/>
              <a:t> DESC) AS </a:t>
            </a:r>
            <a:r>
              <a:rPr lang="en-US" sz="1400" dirty="0" err="1"/>
              <a:t>performance_rank</a:t>
            </a:r>
            <a:endParaRPr lang="en-US" sz="1400" dirty="0"/>
          </a:p>
          <a:p>
            <a:r>
              <a:rPr lang="en-US" sz="1400" dirty="0"/>
              <a:t>FROM </a:t>
            </a:r>
            <a:r>
              <a:rPr lang="en-US" sz="1400" dirty="0" err="1"/>
              <a:t>warehouse_rank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en-US" sz="1400" b="1" dirty="0"/>
              <a:t>Insight: </a:t>
            </a:r>
            <a:r>
              <a:rPr lang="en-US" sz="1400" dirty="0"/>
              <a:t>Warehouses were ranked based on on-time delivery percentage, with higher percentages indicating better performance.</a:t>
            </a:r>
          </a:p>
          <a:p>
            <a:endParaRPr lang="en-US" sz="1400" b="1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74063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942F4D-16B1-E67E-4F7D-B58F660F7793}"/>
              </a:ext>
            </a:extLst>
          </p:cNvPr>
          <p:cNvSpPr txBox="1"/>
          <p:nvPr/>
        </p:nvSpPr>
        <p:spPr>
          <a:xfrm>
            <a:off x="107373" y="-1"/>
            <a:ext cx="12084627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Task 5: Delivery Agent Performance</a:t>
            </a:r>
          </a:p>
          <a:p>
            <a:pPr algn="ctr"/>
            <a:endParaRPr lang="en-US" b="1" dirty="0"/>
          </a:p>
          <a:p>
            <a:r>
              <a:rPr lang="en-US" sz="1400" b="1" dirty="0"/>
              <a:t>CASE 1: Rank agents (per route) by on-time delivery percentage.</a:t>
            </a:r>
          </a:p>
          <a:p>
            <a:endParaRPr lang="en-US" sz="1400" b="1" dirty="0"/>
          </a:p>
          <a:p>
            <a:r>
              <a:rPr lang="en-US" sz="1400" b="1" dirty="0"/>
              <a:t>QUERY 1:</a:t>
            </a:r>
          </a:p>
          <a:p>
            <a:r>
              <a:rPr lang="en-US" sz="1400" dirty="0"/>
              <a:t>WITH fly AS (	</a:t>
            </a:r>
          </a:p>
          <a:p>
            <a:r>
              <a:rPr lang="en-US" sz="1400" dirty="0"/>
              <a:t>	SELECT </a:t>
            </a:r>
            <a:r>
              <a:rPr lang="en-US" sz="1400" dirty="0" err="1"/>
              <a:t>Agent_ID</a:t>
            </a:r>
            <a:r>
              <a:rPr lang="en-US" sz="1400" dirty="0"/>
              <a:t>, </a:t>
            </a:r>
            <a:r>
              <a:rPr lang="en-US" sz="1400" dirty="0" err="1"/>
              <a:t>Route_ID</a:t>
            </a:r>
            <a:r>
              <a:rPr lang="en-US" sz="1400" dirty="0"/>
              <a:t>,    </a:t>
            </a:r>
          </a:p>
          <a:p>
            <a:r>
              <a:rPr lang="en-US" sz="1400" dirty="0"/>
              <a:t>	ROUND(			</a:t>
            </a:r>
          </a:p>
          <a:p>
            <a:r>
              <a:rPr lang="en-US" sz="1400" dirty="0"/>
              <a:t>	                  SUM(CASE					</a:t>
            </a:r>
          </a:p>
          <a:p>
            <a:r>
              <a:rPr lang="en-US" sz="1400" dirty="0"/>
              <a:t>		                WHEN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THEN 1                    </a:t>
            </a:r>
          </a:p>
          <a:p>
            <a:r>
              <a:rPr lang="en-US" sz="1400" dirty="0"/>
              <a:t>		                ELSE 0                    </a:t>
            </a:r>
          </a:p>
          <a:p>
            <a:r>
              <a:rPr lang="en-US" sz="1400" dirty="0"/>
              <a:t>		                END)*100 / COUNT(*),2		</a:t>
            </a:r>
          </a:p>
          <a:p>
            <a:r>
              <a:rPr lang="en-US" sz="1400" dirty="0"/>
              <a:t>	                 ) AS </a:t>
            </a:r>
            <a:r>
              <a:rPr lang="en-US" sz="1400" dirty="0" err="1"/>
              <a:t>on_time_delivery_percentage</a:t>
            </a:r>
            <a:r>
              <a:rPr lang="en-US" sz="1400" dirty="0"/>
              <a:t>,    </a:t>
            </a:r>
          </a:p>
          <a:p>
            <a:r>
              <a:rPr lang="en-US" sz="1400" dirty="0"/>
              <a:t>	DENSE_RANK() OVER(						</a:t>
            </a:r>
          </a:p>
          <a:p>
            <a:r>
              <a:rPr lang="en-US" sz="1400" dirty="0"/>
              <a:t>			PARTITION BY </a:t>
            </a:r>
            <a:r>
              <a:rPr lang="en-US" sz="1400" dirty="0" err="1"/>
              <a:t>Route_ID</a:t>
            </a:r>
            <a:r>
              <a:rPr lang="en-US" sz="1400" dirty="0"/>
              <a:t>                        </a:t>
            </a:r>
          </a:p>
          <a:p>
            <a:r>
              <a:rPr lang="en-US" sz="1400" dirty="0"/>
              <a:t>			ORDER BY (						</a:t>
            </a:r>
          </a:p>
          <a:p>
            <a:r>
              <a:rPr lang="en-US" sz="1400" dirty="0"/>
              <a:t>				SUM(CASE                        </a:t>
            </a:r>
          </a:p>
          <a:p>
            <a:r>
              <a:rPr lang="en-US" sz="1400" dirty="0"/>
              <a:t>					WHEN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THEN 1                        </a:t>
            </a:r>
          </a:p>
          <a:p>
            <a:r>
              <a:rPr lang="en-US" sz="1400" dirty="0"/>
              <a:t>					ELSE 0                        </a:t>
            </a:r>
          </a:p>
          <a:p>
            <a:r>
              <a:rPr lang="en-US" sz="1400" dirty="0"/>
              <a:t>					END)*100 / COUNT(*)) DESC</a:t>
            </a:r>
          </a:p>
          <a:p>
            <a:r>
              <a:rPr lang="en-US" sz="1400" dirty="0"/>
              <a:t>			) AS </a:t>
            </a:r>
            <a:r>
              <a:rPr lang="en-US" sz="1400" dirty="0" err="1"/>
              <a:t>performance_rank</a:t>
            </a:r>
            <a:r>
              <a:rPr lang="en-US" sz="1400" dirty="0"/>
              <a:t>    </a:t>
            </a:r>
          </a:p>
          <a:p>
            <a:r>
              <a:rPr lang="en-US" sz="1400" dirty="0"/>
              <a:t>	FROM orders    </a:t>
            </a:r>
          </a:p>
          <a:p>
            <a:r>
              <a:rPr lang="en-US" sz="1400" dirty="0"/>
              <a:t>	GROUP BY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  <a:r>
              <a:rPr lang="en-US" sz="1400" dirty="0" err="1"/>
              <a:t>Agent_ID</a:t>
            </a:r>
            <a:endParaRPr lang="en-US" sz="1400" dirty="0"/>
          </a:p>
          <a:p>
            <a:r>
              <a:rPr lang="en-US" sz="1400" dirty="0"/>
              <a:t>)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Agent_ID</a:t>
            </a:r>
            <a:r>
              <a:rPr lang="en-US" sz="1400" dirty="0"/>
              <a:t>,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  <a:r>
              <a:rPr lang="en-US" sz="1400" dirty="0" err="1"/>
              <a:t>on_time_delivery_percentage</a:t>
            </a:r>
            <a:r>
              <a:rPr lang="en-US" sz="1400" dirty="0"/>
              <a:t>, </a:t>
            </a:r>
            <a:r>
              <a:rPr lang="en-US" sz="1400" dirty="0" err="1"/>
              <a:t>performance_rank</a:t>
            </a:r>
            <a:endParaRPr lang="en-US" sz="1400" dirty="0"/>
          </a:p>
          <a:p>
            <a:r>
              <a:rPr lang="en-US" sz="1400" dirty="0"/>
              <a:t>FROM fly;</a:t>
            </a:r>
          </a:p>
        </p:txBody>
      </p:sp>
    </p:spTree>
    <p:extLst>
      <p:ext uri="{BB962C8B-B14F-4D97-AF65-F5344CB8AC3E}">
        <p14:creationId xmlns:p14="http://schemas.microsoft.com/office/powerpoint/2010/main" val="75301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35B465-C06C-5209-F05A-DB5FB52608A8}"/>
              </a:ext>
            </a:extLst>
          </p:cNvPr>
          <p:cNvSpPr txBox="1"/>
          <p:nvPr/>
        </p:nvSpPr>
        <p:spPr>
          <a:xfrm>
            <a:off x="72736" y="0"/>
            <a:ext cx="1211926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QUERY 2: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Agent_ID</a:t>
            </a:r>
            <a:r>
              <a:rPr lang="en-US" sz="1400" dirty="0"/>
              <a:t>, </a:t>
            </a:r>
            <a:r>
              <a:rPr lang="en-US" sz="1400" dirty="0" err="1"/>
              <a:t>Route_ID</a:t>
            </a:r>
            <a:r>
              <a:rPr lang="en-US" sz="1400" dirty="0"/>
              <a:t>,</a:t>
            </a:r>
          </a:p>
          <a:p>
            <a:r>
              <a:rPr lang="en-US" sz="1400" dirty="0"/>
              <a:t>ROUND(		</a:t>
            </a:r>
          </a:p>
          <a:p>
            <a:r>
              <a:rPr lang="en-US" sz="1400" dirty="0"/>
              <a:t>	SUM(CASE			</a:t>
            </a:r>
          </a:p>
          <a:p>
            <a:r>
              <a:rPr lang="en-US" sz="1400" dirty="0"/>
              <a:t>		WHEN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THEN 1            </a:t>
            </a:r>
          </a:p>
          <a:p>
            <a:r>
              <a:rPr lang="en-US" sz="1400" dirty="0"/>
              <a:t>		ELSE 0            </a:t>
            </a:r>
          </a:p>
          <a:p>
            <a:r>
              <a:rPr lang="en-US" sz="1400" dirty="0"/>
              <a:t>		END)*100 / COUNT(*),2			</a:t>
            </a:r>
          </a:p>
          <a:p>
            <a:r>
              <a:rPr lang="en-US" sz="1400" dirty="0"/>
              <a:t>	) AS </a:t>
            </a:r>
            <a:r>
              <a:rPr lang="en-US" sz="1400" dirty="0" err="1"/>
              <a:t>on_time_delivery_percentage</a:t>
            </a:r>
            <a:r>
              <a:rPr lang="en-US" sz="1400" dirty="0"/>
              <a:t>,</a:t>
            </a:r>
          </a:p>
          <a:p>
            <a:r>
              <a:rPr lang="en-US" sz="1400" dirty="0"/>
              <a:t>DENSE_RANK() OVER(	PARTITION BY </a:t>
            </a:r>
            <a:r>
              <a:rPr lang="en-US" sz="1400" dirty="0" err="1"/>
              <a:t>Route_ID</a:t>
            </a:r>
            <a:r>
              <a:rPr lang="en-US" sz="1400" dirty="0"/>
              <a:t>            </a:t>
            </a:r>
          </a:p>
          <a:p>
            <a:r>
              <a:rPr lang="en-US" sz="1400" dirty="0"/>
              <a:t>		ORDER BY (            </a:t>
            </a:r>
          </a:p>
          <a:p>
            <a:r>
              <a:rPr lang="en-US" sz="1400" dirty="0"/>
              <a:t>			SUM(CASE				</a:t>
            </a:r>
          </a:p>
          <a:p>
            <a:r>
              <a:rPr lang="en-US" sz="1400" dirty="0"/>
              <a:t>				WHEN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THEN 1                </a:t>
            </a:r>
          </a:p>
          <a:p>
            <a:r>
              <a:rPr lang="en-US" sz="1400" dirty="0"/>
              <a:t>				ELSE 0                </a:t>
            </a:r>
          </a:p>
          <a:p>
            <a:r>
              <a:rPr lang="en-US" sz="1400" dirty="0"/>
              <a:t>				END)*100 / COUNT(*)) DESC</a:t>
            </a:r>
          </a:p>
          <a:p>
            <a:r>
              <a:rPr lang="en-US" sz="1400" dirty="0"/>
              <a:t>		) AS </a:t>
            </a:r>
            <a:r>
              <a:rPr lang="en-US" sz="1400" dirty="0" err="1"/>
              <a:t>performance_rank</a:t>
            </a:r>
            <a:endParaRPr lang="en-US" sz="1400" dirty="0"/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  <a:r>
              <a:rPr lang="en-US" sz="1400" dirty="0" err="1"/>
              <a:t>Agent_ID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Insight: </a:t>
            </a:r>
            <a:r>
              <a:rPr lang="en-US" sz="1400" dirty="0"/>
              <a:t>Agents were ranked within each route based on their on-time delivery performance.</a:t>
            </a:r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542FC-97EE-F22E-8F7C-C490DC7AF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53" y="3857003"/>
            <a:ext cx="4925112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05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DD5F91-5145-5609-C2C9-CBDC5E1410EB}"/>
              </a:ext>
            </a:extLst>
          </p:cNvPr>
          <p:cNvSpPr txBox="1"/>
          <p:nvPr/>
        </p:nvSpPr>
        <p:spPr>
          <a:xfrm>
            <a:off x="83127" y="0"/>
            <a:ext cx="12108873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CASE 2: Find agents with on-time % &lt; 80%.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Agent_ID</a:t>
            </a:r>
            <a:r>
              <a:rPr lang="en-US" sz="1400" dirty="0"/>
              <a:t>,	   </a:t>
            </a:r>
          </a:p>
          <a:p>
            <a:r>
              <a:rPr lang="en-US" sz="1400" dirty="0"/>
              <a:t>                 ROUND(			</a:t>
            </a:r>
          </a:p>
          <a:p>
            <a:r>
              <a:rPr lang="en-US" sz="1400" dirty="0"/>
              <a:t>	          SUM(CASE			</a:t>
            </a:r>
          </a:p>
          <a:p>
            <a:r>
              <a:rPr lang="en-US" sz="1400" dirty="0"/>
              <a:t>		        WHEN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THEN 1                    </a:t>
            </a:r>
          </a:p>
          <a:p>
            <a:r>
              <a:rPr lang="en-US" sz="1400" dirty="0"/>
              <a:t>		        ELSE 0                    </a:t>
            </a:r>
          </a:p>
          <a:p>
            <a:r>
              <a:rPr lang="en-US" sz="1400" dirty="0"/>
              <a:t>		        END)*100 / COUNT(*),2		</a:t>
            </a:r>
          </a:p>
          <a:p>
            <a:r>
              <a:rPr lang="en-US" sz="1400" dirty="0"/>
              <a:t>	) AS </a:t>
            </a:r>
            <a:r>
              <a:rPr lang="en-US" sz="1400" dirty="0" err="1"/>
              <a:t>on_time_delivery_percentage</a:t>
            </a:r>
            <a:endParaRPr lang="en-US" sz="1400" dirty="0"/>
          </a:p>
          <a:p>
            <a:r>
              <a:rPr lang="en-US" sz="1400" dirty="0"/>
              <a:t>FROM orders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Agent_ID</a:t>
            </a:r>
            <a:endParaRPr lang="en-US" sz="1400" dirty="0"/>
          </a:p>
          <a:p>
            <a:r>
              <a:rPr lang="en-US" sz="1400" dirty="0"/>
              <a:t>HAVING </a:t>
            </a:r>
            <a:r>
              <a:rPr lang="en-US" sz="1400" dirty="0" err="1"/>
              <a:t>on_time_delivery_percentage</a:t>
            </a:r>
            <a:r>
              <a:rPr lang="en-US" sz="1400" dirty="0"/>
              <a:t> &lt; 80;</a:t>
            </a:r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Insight: </a:t>
            </a:r>
            <a:r>
              <a:rPr lang="en-US" sz="1400" dirty="0"/>
              <a:t>Agents with on-time delivery percentage below 80% are identified as low performers.</a:t>
            </a:r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61B07B-07D1-4802-2580-EEC378E99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11" y="3036020"/>
            <a:ext cx="3168134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90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E8C90-A782-2368-9EF8-A74DDEA89B6C}"/>
              </a:ext>
            </a:extLst>
          </p:cNvPr>
          <p:cNvSpPr txBox="1"/>
          <p:nvPr/>
        </p:nvSpPr>
        <p:spPr>
          <a:xfrm>
            <a:off x="76200" y="-1"/>
            <a:ext cx="121158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CASE 3: Compare average speed of top 5 vs bottom 5 agents using subqueries.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	</a:t>
            </a:r>
          </a:p>
          <a:p>
            <a:r>
              <a:rPr lang="en-US" sz="1400" dirty="0"/>
              <a:t>	AVG(temp1.Avg_Speed_KMPH) AS Top_5_Avg_Speed,	</a:t>
            </a:r>
          </a:p>
          <a:p>
            <a:r>
              <a:rPr lang="en-US" sz="1400" dirty="0"/>
              <a:t>	AVG(temp2.Avg_Speed_KMPH) AS Bottom_5_Avg_Speed</a:t>
            </a:r>
          </a:p>
          <a:p>
            <a:r>
              <a:rPr lang="en-US" sz="1400" dirty="0"/>
              <a:t>FROM	</a:t>
            </a:r>
          </a:p>
          <a:p>
            <a:r>
              <a:rPr lang="en-US" sz="1400" dirty="0"/>
              <a:t>	(SELECT </a:t>
            </a:r>
            <a:r>
              <a:rPr lang="en-US" sz="1400" dirty="0" err="1"/>
              <a:t>Avg_Speed_KMPH</a:t>
            </a:r>
            <a:r>
              <a:rPr lang="en-US" sz="1400" dirty="0"/>
              <a:t>    </a:t>
            </a:r>
          </a:p>
          <a:p>
            <a:r>
              <a:rPr lang="en-US" sz="1400" dirty="0"/>
              <a:t>	 FROM </a:t>
            </a:r>
            <a:r>
              <a:rPr lang="en-US" sz="1400" dirty="0" err="1"/>
              <a:t>delivery_agents</a:t>
            </a:r>
            <a:r>
              <a:rPr lang="en-US" sz="1400" dirty="0"/>
              <a:t>    </a:t>
            </a:r>
          </a:p>
          <a:p>
            <a:r>
              <a:rPr lang="en-US" sz="1400" dirty="0"/>
              <a:t>	 ORDER BY </a:t>
            </a:r>
            <a:r>
              <a:rPr lang="en-US" sz="1400" dirty="0" err="1"/>
              <a:t>Avg_Speed_KMPH</a:t>
            </a:r>
            <a:r>
              <a:rPr lang="en-US" sz="1400" dirty="0"/>
              <a:t> DESC    </a:t>
            </a:r>
          </a:p>
          <a:p>
            <a:r>
              <a:rPr lang="en-US" sz="1400" dirty="0"/>
              <a:t>	 LIMIT 5) AS temp1,  </a:t>
            </a:r>
          </a:p>
          <a:p>
            <a:r>
              <a:rPr lang="en-US" sz="1400" dirty="0"/>
              <a:t>      </a:t>
            </a:r>
          </a:p>
          <a:p>
            <a:r>
              <a:rPr lang="en-US" sz="1400" dirty="0"/>
              <a:t>	(SELECT </a:t>
            </a:r>
            <a:r>
              <a:rPr lang="en-US" sz="1400" dirty="0" err="1"/>
              <a:t>Avg_Speed_KMPH</a:t>
            </a:r>
            <a:r>
              <a:rPr lang="en-US" sz="1400" dirty="0"/>
              <a:t>    </a:t>
            </a:r>
          </a:p>
          <a:p>
            <a:r>
              <a:rPr lang="en-US" sz="1400" dirty="0"/>
              <a:t>	 FROM </a:t>
            </a:r>
            <a:r>
              <a:rPr lang="en-US" sz="1400" dirty="0" err="1"/>
              <a:t>delivery_agents</a:t>
            </a:r>
            <a:r>
              <a:rPr lang="en-US" sz="1400" dirty="0"/>
              <a:t>    </a:t>
            </a:r>
          </a:p>
          <a:p>
            <a:r>
              <a:rPr lang="en-US" sz="1400" dirty="0"/>
              <a:t>	 ORDER BY </a:t>
            </a:r>
            <a:r>
              <a:rPr lang="en-US" sz="1400" dirty="0" err="1"/>
              <a:t>Avg_Speed_KMPH</a:t>
            </a:r>
            <a:r>
              <a:rPr lang="en-US" sz="1400" dirty="0"/>
              <a:t> ASC    </a:t>
            </a:r>
          </a:p>
          <a:p>
            <a:r>
              <a:rPr lang="en-US" sz="1400" dirty="0"/>
              <a:t>	 LIMIT 5) AS temp2</a:t>
            </a:r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CASE 4: Suggest training or workload balancing strategies for low performers</a:t>
            </a:r>
          </a:p>
          <a:p>
            <a:endParaRPr lang="en-US" sz="1400" b="1" dirty="0"/>
          </a:p>
          <a:p>
            <a:pPr marL="342900" indent="-342900">
              <a:buAutoNum type="arabicPeriod"/>
            </a:pPr>
            <a:r>
              <a:rPr lang="en-US" sz="1400" b="1" dirty="0"/>
              <a:t>Targeted Training Program: </a:t>
            </a:r>
            <a:r>
              <a:rPr lang="en-US" sz="1400" dirty="0"/>
              <a:t>Provide route specific training for agents with </a:t>
            </a:r>
            <a:r>
              <a:rPr lang="en-US" sz="1400" b="1" dirty="0"/>
              <a:t>0 – 40% </a:t>
            </a:r>
            <a:r>
              <a:rPr lang="en-US" sz="1400" dirty="0"/>
              <a:t>delivery performance. Agents like </a:t>
            </a:r>
            <a:r>
              <a:rPr lang="de-DE" sz="1400" b="1" dirty="0"/>
              <a:t>AG_020, AG_034, AG_011 </a:t>
            </a:r>
            <a:r>
              <a:rPr lang="de-DE" sz="1400" dirty="0"/>
              <a:t>need immediate training and needs to focus on time management, route optimization, handling delays.</a:t>
            </a:r>
            <a:r>
              <a:rPr lang="en-US" sz="1400" b="1" dirty="0"/>
              <a:t> </a:t>
            </a:r>
          </a:p>
          <a:p>
            <a:pPr marL="342900" indent="-342900">
              <a:buAutoNum type="arabicPeriod"/>
            </a:pPr>
            <a:r>
              <a:rPr lang="en-US" sz="1400" b="1" dirty="0"/>
              <a:t>Mentorship by Top Performers: </a:t>
            </a:r>
            <a:r>
              <a:rPr lang="en-US" sz="1400" dirty="0"/>
              <a:t>Pair low performers with high performers (like </a:t>
            </a:r>
            <a:r>
              <a:rPr lang="de-DE" sz="1400" b="1" dirty="0"/>
              <a:t>AG_017, AG_026, AG_030</a:t>
            </a:r>
            <a:r>
              <a:rPr lang="en-US" sz="1400" dirty="0"/>
              <a:t>). This improves real-world learning faster than theory.</a:t>
            </a:r>
          </a:p>
          <a:p>
            <a:pPr marL="342900" indent="-342900">
              <a:buAutoNum type="arabicPeriod"/>
            </a:pPr>
            <a:r>
              <a:rPr lang="en-US" sz="1400" b="1" dirty="0"/>
              <a:t>Workload Balancing: </a:t>
            </a:r>
            <a:r>
              <a:rPr lang="en-US" sz="1400" dirty="0"/>
              <a:t>Reduce workload on low performers initially and assign shorter routes and less complex deliveries to low performers and then gradually increase workload after improvement.</a:t>
            </a:r>
          </a:p>
          <a:p>
            <a:pPr marL="342900" indent="-342900">
              <a:buAutoNum type="arabicPeriod"/>
            </a:pPr>
            <a:r>
              <a:rPr lang="en-US" sz="1400" b="1" dirty="0"/>
              <a:t>Route Optimization: </a:t>
            </a:r>
            <a:r>
              <a:rPr lang="en-US" sz="1400" dirty="0"/>
              <a:t>Some routes may be harder (like traffic, distance) so reassign difficult routes from low performers to experienced  agents.</a:t>
            </a:r>
          </a:p>
          <a:p>
            <a:pPr marL="342900" indent="-342900">
              <a:buAutoNum type="arabicPeriod"/>
            </a:pPr>
            <a:r>
              <a:rPr lang="en-US" sz="1400" b="1" dirty="0"/>
              <a:t>Speed Improvement Strategies: </a:t>
            </a:r>
            <a:r>
              <a:rPr lang="en-US" sz="1400" dirty="0"/>
              <a:t>Since bottom agents have </a:t>
            </a:r>
            <a:r>
              <a:rPr lang="en-US" sz="1400" b="1" dirty="0"/>
              <a:t>low avg speed (35 KMPH) </a:t>
            </a:r>
            <a:r>
              <a:rPr lang="en-US" sz="1400" dirty="0"/>
              <a:t>so provide navigation tools (GPS optimization) and improve vehicle efficiency.</a:t>
            </a:r>
            <a:endParaRPr lang="de-DE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219459-727A-01E4-AC43-212BEB436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86" y="3751071"/>
            <a:ext cx="3556513" cy="73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56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336922-92DB-3617-D259-A1F5F03627C6}"/>
              </a:ext>
            </a:extLst>
          </p:cNvPr>
          <p:cNvSpPr txBox="1"/>
          <p:nvPr/>
        </p:nvSpPr>
        <p:spPr>
          <a:xfrm>
            <a:off x="86591" y="0"/>
            <a:ext cx="12105409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Task 6: Shipment Tracking Analytics</a:t>
            </a:r>
          </a:p>
          <a:p>
            <a:endParaRPr lang="en-US" b="1" dirty="0"/>
          </a:p>
          <a:p>
            <a:r>
              <a:rPr lang="en-US" sz="1400" b="1" dirty="0"/>
              <a:t>CASE 1: For each order, list the last checkpoint and time.</a:t>
            </a:r>
          </a:p>
          <a:p>
            <a:endParaRPr lang="en-US" sz="1400" b="1" dirty="0"/>
          </a:p>
          <a:p>
            <a:r>
              <a:rPr lang="en-US" sz="1400" b="1" dirty="0"/>
              <a:t>QUERY 1:</a:t>
            </a:r>
          </a:p>
          <a:p>
            <a:r>
              <a:rPr lang="en-US" sz="1400" dirty="0"/>
              <a:t>SELECT </a:t>
            </a:r>
            <a:r>
              <a:rPr lang="en-US" sz="1400" dirty="0" err="1"/>
              <a:t>Order_ID</a:t>
            </a:r>
            <a:r>
              <a:rPr lang="en-US" sz="1400" dirty="0"/>
              <a:t>, Checkpoint, </a:t>
            </a:r>
            <a:r>
              <a:rPr lang="en-US" sz="1400" dirty="0" err="1"/>
              <a:t>Checkpoint_Time</a:t>
            </a:r>
            <a:endParaRPr lang="en-US" sz="1400" dirty="0"/>
          </a:p>
          <a:p>
            <a:r>
              <a:rPr lang="en-US" sz="1400" dirty="0"/>
              <a:t>FROM </a:t>
            </a:r>
            <a:r>
              <a:rPr lang="en-US" sz="1400" dirty="0" err="1"/>
              <a:t>shipment_tracking</a:t>
            </a:r>
            <a:endParaRPr lang="en-US" sz="1400" dirty="0"/>
          </a:p>
          <a:p>
            <a:r>
              <a:rPr lang="en-US" sz="1400" dirty="0"/>
              <a:t>WHERE </a:t>
            </a:r>
            <a:r>
              <a:rPr lang="en-US" sz="1400" dirty="0" err="1"/>
              <a:t>Checkpoint_Time</a:t>
            </a:r>
            <a:r>
              <a:rPr lang="en-US" sz="1400" dirty="0"/>
              <a:t> IN (SELECT						</a:t>
            </a:r>
          </a:p>
          <a:p>
            <a:r>
              <a:rPr lang="en-US" sz="1400" dirty="0"/>
              <a:t>		            MAX(</a:t>
            </a:r>
            <a:r>
              <a:rPr lang="en-US" sz="1400" dirty="0" err="1"/>
              <a:t>Checkpoint_Time</a:t>
            </a:r>
            <a:r>
              <a:rPr lang="en-US" sz="1400" dirty="0"/>
              <a:t>)						</a:t>
            </a:r>
          </a:p>
          <a:p>
            <a:r>
              <a:rPr lang="en-US" sz="1400" dirty="0"/>
              <a:t>		            FROM </a:t>
            </a:r>
            <a:r>
              <a:rPr lang="en-US" sz="1400" dirty="0" err="1"/>
              <a:t>shipment_tracking</a:t>
            </a:r>
            <a:r>
              <a:rPr lang="en-US" sz="1400" dirty="0"/>
              <a:t>						</a:t>
            </a:r>
          </a:p>
          <a:p>
            <a:r>
              <a:rPr lang="en-US" sz="1400" dirty="0"/>
              <a:t>		            GROUP BY </a:t>
            </a:r>
            <a:r>
              <a:rPr lang="en-US" sz="1400" dirty="0" err="1"/>
              <a:t>Order_ID</a:t>
            </a:r>
            <a:r>
              <a:rPr lang="en-US" sz="1400" dirty="0"/>
              <a:t>);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Insight: </a:t>
            </a:r>
            <a:r>
              <a:rPr lang="en-US" sz="1400" dirty="0"/>
              <a:t>Each order’s latest location is identified using the last checkpoint time. It helps track current shipment status and find delayed orders.</a:t>
            </a:r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87DEAD-EDA2-742A-979D-A51C61834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46" y="2908488"/>
            <a:ext cx="4282636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827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A82A93-C0CC-7916-FE96-BBC5AEE23DDF}"/>
              </a:ext>
            </a:extLst>
          </p:cNvPr>
          <p:cNvSpPr txBox="1"/>
          <p:nvPr/>
        </p:nvSpPr>
        <p:spPr>
          <a:xfrm>
            <a:off x="68826" y="0"/>
            <a:ext cx="12123174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CASE 2: Find the most common delay reasons (excluding None).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endParaRPr lang="en-US" sz="1400" b="1" dirty="0"/>
          </a:p>
          <a:p>
            <a:r>
              <a:rPr lang="en-US" sz="1400" dirty="0"/>
              <a:t>SELECT </a:t>
            </a:r>
            <a:r>
              <a:rPr lang="en-US" sz="1400" dirty="0" err="1"/>
              <a:t>Delay_Reason</a:t>
            </a:r>
            <a:r>
              <a:rPr lang="en-US" sz="1400" dirty="0"/>
              <a:t>, COUNT(*) AS frequency</a:t>
            </a:r>
          </a:p>
          <a:p>
            <a:r>
              <a:rPr lang="en-US" sz="1400" dirty="0"/>
              <a:t>FROM </a:t>
            </a:r>
            <a:r>
              <a:rPr lang="en-US" sz="1400" dirty="0" err="1"/>
              <a:t>shipment_tracking</a:t>
            </a:r>
            <a:endParaRPr lang="en-US" sz="1400" dirty="0"/>
          </a:p>
          <a:p>
            <a:r>
              <a:rPr lang="en-US" sz="1400" dirty="0"/>
              <a:t>WHERE </a:t>
            </a:r>
            <a:r>
              <a:rPr lang="en-US" sz="1400" dirty="0" err="1"/>
              <a:t>Delay_Reason</a:t>
            </a:r>
            <a:r>
              <a:rPr lang="en-US" sz="1400" dirty="0"/>
              <a:t> &lt;&gt; 'None’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Delay_Reason</a:t>
            </a:r>
            <a:endParaRPr lang="en-US" sz="1400" dirty="0"/>
          </a:p>
          <a:p>
            <a:r>
              <a:rPr lang="en-US" sz="1400" dirty="0"/>
              <a:t>ORDER BY frequency DESC;</a:t>
            </a:r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CASE 3: Identify orders with &gt;2 delayed checkpoint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endParaRPr lang="en-US" sz="1400" b="1" dirty="0"/>
          </a:p>
          <a:p>
            <a:r>
              <a:rPr lang="en-US" sz="1400" dirty="0"/>
              <a:t>SELECT </a:t>
            </a:r>
            <a:r>
              <a:rPr lang="en-US" sz="1400" dirty="0" err="1"/>
              <a:t>Order_ID</a:t>
            </a:r>
            <a:r>
              <a:rPr lang="en-US" sz="1400" dirty="0"/>
              <a:t>, COUNT(*) AS </a:t>
            </a:r>
            <a:r>
              <a:rPr lang="en-US" sz="1400" dirty="0" err="1"/>
              <a:t>Delayed_Checkpoints_Count</a:t>
            </a:r>
            <a:endParaRPr lang="en-US" sz="1400" dirty="0"/>
          </a:p>
          <a:p>
            <a:r>
              <a:rPr lang="en-US" sz="1400" dirty="0"/>
              <a:t>FROM </a:t>
            </a:r>
            <a:r>
              <a:rPr lang="en-US" sz="1400" dirty="0" err="1"/>
              <a:t>shipment_tracking</a:t>
            </a:r>
            <a:endParaRPr lang="en-US" sz="1400" dirty="0"/>
          </a:p>
          <a:p>
            <a:r>
              <a:rPr lang="en-US" sz="1400" dirty="0"/>
              <a:t>WHERE </a:t>
            </a:r>
            <a:r>
              <a:rPr lang="en-US" sz="1400" dirty="0" err="1"/>
              <a:t>Delay_Minutes</a:t>
            </a:r>
            <a:r>
              <a:rPr lang="en-US" sz="1400" dirty="0"/>
              <a:t> &gt; 0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Order_ID</a:t>
            </a:r>
            <a:endParaRPr lang="en-US" sz="1400" dirty="0"/>
          </a:p>
          <a:p>
            <a:r>
              <a:rPr lang="en-US" sz="1400" dirty="0"/>
              <a:t>HAVING COUNT(*) &gt; 2;</a:t>
            </a:r>
          </a:p>
          <a:p>
            <a:endParaRPr lang="en-US" sz="1400" dirty="0"/>
          </a:p>
          <a:p>
            <a:endParaRPr lang="en-US" sz="1400" b="1" dirty="0"/>
          </a:p>
          <a:p>
            <a:endParaRPr lang="en-US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1DEE6-C0EE-BCB4-5715-69C81E06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6" y="2250442"/>
            <a:ext cx="2522124" cy="10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20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7B5833-5C84-332D-3097-A3D92FC106E5}"/>
              </a:ext>
            </a:extLst>
          </p:cNvPr>
          <p:cNvSpPr txBox="1"/>
          <p:nvPr/>
        </p:nvSpPr>
        <p:spPr>
          <a:xfrm>
            <a:off x="78658" y="24868"/>
            <a:ext cx="12113342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F95396-E4F2-70F4-22E1-5C76E4ACF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76" y="56679"/>
            <a:ext cx="3600829" cy="354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33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F4885-735A-E135-123D-44AD2E824259}"/>
              </a:ext>
            </a:extLst>
          </p:cNvPr>
          <p:cNvSpPr txBox="1"/>
          <p:nvPr/>
        </p:nvSpPr>
        <p:spPr>
          <a:xfrm>
            <a:off x="78658" y="0"/>
            <a:ext cx="1211334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Task 7: Advanced KPI Reporting</a:t>
            </a:r>
          </a:p>
          <a:p>
            <a:endParaRPr lang="en-US" b="1" dirty="0"/>
          </a:p>
          <a:p>
            <a:r>
              <a:rPr lang="en-US" sz="1400" b="1" dirty="0"/>
              <a:t>CASE 1: Average Delivery Delay per Region (</a:t>
            </a:r>
            <a:r>
              <a:rPr lang="en-US" sz="1400" b="1" dirty="0" err="1"/>
              <a:t>Start_Location</a:t>
            </a:r>
            <a:r>
              <a:rPr lang="en-US" sz="1400" b="1" dirty="0"/>
              <a:t>).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r.Start_Location</a:t>
            </a:r>
            <a:r>
              <a:rPr lang="en-US" sz="1400" dirty="0"/>
              <a:t>, </a:t>
            </a:r>
          </a:p>
          <a:p>
            <a:r>
              <a:rPr lang="en-US" sz="1400" dirty="0"/>
              <a:t>	SUM(DATEDIFF(</a:t>
            </a:r>
            <a:r>
              <a:rPr lang="en-US" sz="1400" dirty="0" err="1"/>
              <a:t>o.Actual_Delivery_Date</a:t>
            </a:r>
            <a:r>
              <a:rPr lang="en-US" sz="1400" dirty="0"/>
              <a:t>, </a:t>
            </a:r>
            <a:r>
              <a:rPr lang="en-US" sz="1400" dirty="0" err="1"/>
              <a:t>o.Expected_Delivery_Date</a:t>
            </a:r>
            <a:r>
              <a:rPr lang="en-US" sz="1400" dirty="0"/>
              <a:t>)) AS </a:t>
            </a:r>
            <a:r>
              <a:rPr lang="en-US" sz="1400" dirty="0" err="1"/>
              <a:t>total_delivery_delay</a:t>
            </a:r>
            <a:r>
              <a:rPr lang="en-US" sz="1400" dirty="0"/>
              <a:t>, </a:t>
            </a:r>
          </a:p>
          <a:p>
            <a:r>
              <a:rPr lang="en-US" sz="1400" dirty="0"/>
              <a:t>	COUNT(*) AS </a:t>
            </a:r>
            <a:r>
              <a:rPr lang="en-US" sz="1400" dirty="0" err="1"/>
              <a:t>freq</a:t>
            </a:r>
            <a:r>
              <a:rPr lang="en-US" sz="1400" dirty="0"/>
              <a:t>,</a:t>
            </a:r>
          </a:p>
          <a:p>
            <a:r>
              <a:rPr lang="en-US" sz="1400" dirty="0"/>
              <a:t>	AVG(DATEDIFF(</a:t>
            </a:r>
            <a:r>
              <a:rPr lang="en-US" sz="1400" dirty="0" err="1"/>
              <a:t>o.Actual_Delivery_Date</a:t>
            </a:r>
            <a:r>
              <a:rPr lang="en-US" sz="1400" dirty="0"/>
              <a:t>, </a:t>
            </a:r>
            <a:r>
              <a:rPr lang="en-US" sz="1400" dirty="0" err="1"/>
              <a:t>o.Expected_Delivery_Date</a:t>
            </a:r>
            <a:r>
              <a:rPr lang="en-US" sz="1400" dirty="0"/>
              <a:t>)) AS </a:t>
            </a:r>
            <a:r>
              <a:rPr lang="en-US" sz="1400" dirty="0" err="1"/>
              <a:t>Avg_delivery_delay</a:t>
            </a:r>
            <a:endParaRPr lang="en-US" sz="1400" dirty="0"/>
          </a:p>
          <a:p>
            <a:r>
              <a:rPr lang="en-US" sz="1400" dirty="0"/>
              <a:t>FROM orders o</a:t>
            </a:r>
          </a:p>
          <a:p>
            <a:r>
              <a:rPr lang="en-US" sz="1400" dirty="0"/>
              <a:t>JOIN routes r</a:t>
            </a:r>
          </a:p>
          <a:p>
            <a:r>
              <a:rPr lang="en-US" sz="1400" dirty="0"/>
              <a:t>ON </a:t>
            </a:r>
            <a:r>
              <a:rPr lang="en-US" sz="1400" dirty="0" err="1"/>
              <a:t>o.Route_ID</a:t>
            </a:r>
            <a:r>
              <a:rPr lang="en-US" sz="1400" dirty="0"/>
              <a:t> = </a:t>
            </a:r>
            <a:r>
              <a:rPr lang="en-US" sz="1400" dirty="0" err="1"/>
              <a:t>r.Route_ID</a:t>
            </a:r>
            <a:endParaRPr lang="en-US" sz="1400" dirty="0"/>
          </a:p>
          <a:p>
            <a:r>
              <a:rPr lang="en-US" sz="1400" dirty="0"/>
              <a:t>WHERE </a:t>
            </a:r>
            <a:r>
              <a:rPr lang="en-US" sz="1400" dirty="0" err="1"/>
              <a:t>o.Actual_Delivery_Date</a:t>
            </a:r>
            <a:r>
              <a:rPr lang="en-US" sz="1400" dirty="0"/>
              <a:t> &gt; </a:t>
            </a:r>
            <a:r>
              <a:rPr lang="en-US" sz="1400" dirty="0" err="1"/>
              <a:t>o.Expected_Delivery_Date</a:t>
            </a:r>
            <a:endParaRPr lang="en-US" sz="1400" dirty="0"/>
          </a:p>
          <a:p>
            <a:r>
              <a:rPr lang="en-US" sz="1400" dirty="0"/>
              <a:t>GROUP BY </a:t>
            </a:r>
            <a:r>
              <a:rPr lang="en-US" sz="1400" dirty="0" err="1"/>
              <a:t>r.Start_Location</a:t>
            </a:r>
            <a:endParaRPr lang="en-US" sz="1400" dirty="0"/>
          </a:p>
          <a:p>
            <a:r>
              <a:rPr lang="en-US" sz="1400" dirty="0"/>
              <a:t>ORDER BY </a:t>
            </a:r>
            <a:r>
              <a:rPr lang="en-US" sz="1400" dirty="0" err="1"/>
              <a:t>Avg_delivery_delay</a:t>
            </a:r>
            <a:r>
              <a:rPr lang="en-US" sz="1400" dirty="0"/>
              <a:t> DESC;</a:t>
            </a:r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Insight: </a:t>
            </a:r>
            <a:r>
              <a:rPr lang="en-US" sz="1400" dirty="0"/>
              <a:t>Ahmedabad has the </a:t>
            </a:r>
            <a:r>
              <a:rPr lang="en-US" sz="1400" b="1" dirty="0"/>
              <a:t>highest (2.00) </a:t>
            </a:r>
            <a:r>
              <a:rPr lang="en-US" sz="1400" dirty="0"/>
              <a:t>delay and needs immediate improvement. Ahmedabad, Pune, and Lucknow need improvement, while Mumbai and Bengaluru show better delivery performance.</a:t>
            </a:r>
            <a:endParaRPr lang="en-US" sz="1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A5F4ED-DA59-B879-769A-9B1481227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75" y="3852750"/>
            <a:ext cx="4902619" cy="171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84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43EAA7-3B4E-9077-6089-3DBF549585B5}"/>
              </a:ext>
            </a:extLst>
          </p:cNvPr>
          <p:cNvSpPr txBox="1"/>
          <p:nvPr/>
        </p:nvSpPr>
        <p:spPr>
          <a:xfrm>
            <a:off x="88490" y="78657"/>
            <a:ext cx="1210351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CASE 2: On-Time Delivery % = (Total On-Time Deliveries / Total Deliveries) * 100.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r>
              <a:rPr lang="en-US" sz="1400" dirty="0"/>
              <a:t>SELECT     </a:t>
            </a:r>
          </a:p>
          <a:p>
            <a:r>
              <a:rPr lang="en-US" sz="1400" dirty="0"/>
              <a:t>	ROUND(        </a:t>
            </a:r>
          </a:p>
          <a:p>
            <a:r>
              <a:rPr lang="en-US" sz="1400" dirty="0"/>
              <a:t>		(SUM(CASE                 </a:t>
            </a:r>
          </a:p>
          <a:p>
            <a:r>
              <a:rPr lang="en-US" sz="1400" dirty="0"/>
              <a:t>			WHEN </a:t>
            </a:r>
            <a:r>
              <a:rPr lang="en-US" sz="1400" dirty="0" err="1"/>
              <a:t>Actual_Delivery_Date</a:t>
            </a:r>
            <a:r>
              <a:rPr lang="en-US" sz="1400" dirty="0"/>
              <a:t> &lt;= </a:t>
            </a:r>
            <a:r>
              <a:rPr lang="en-US" sz="1400" dirty="0" err="1"/>
              <a:t>Expected_Delivery_Date</a:t>
            </a:r>
            <a:r>
              <a:rPr lang="en-US" sz="1400" dirty="0"/>
              <a:t> THEN 1                 </a:t>
            </a:r>
          </a:p>
          <a:p>
            <a:r>
              <a:rPr lang="en-US" sz="1400" dirty="0"/>
              <a:t>			ELSE 0             </a:t>
            </a:r>
          </a:p>
          <a:p>
            <a:r>
              <a:rPr lang="en-US" sz="1400" dirty="0"/>
              <a:t>			END) * 100.0) / COUNT(*),     2) AS </a:t>
            </a:r>
            <a:r>
              <a:rPr lang="en-US" sz="1400" dirty="0" err="1"/>
              <a:t>on_time_delivery_percentage</a:t>
            </a:r>
            <a:endParaRPr lang="en-US" sz="1400" dirty="0"/>
          </a:p>
          <a:p>
            <a:r>
              <a:rPr lang="en-US" sz="1400" dirty="0"/>
              <a:t>FROM orders;</a:t>
            </a:r>
          </a:p>
          <a:p>
            <a:endParaRPr lang="en-US" sz="1400" dirty="0"/>
          </a:p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Insight: </a:t>
            </a:r>
            <a:r>
              <a:rPr lang="en-US" sz="1400" dirty="0"/>
              <a:t>Around </a:t>
            </a:r>
            <a:r>
              <a:rPr lang="en-US" sz="1400" b="1" dirty="0"/>
              <a:t>73% </a:t>
            </a:r>
            <a:r>
              <a:rPr lang="en-US" sz="1400" dirty="0"/>
              <a:t>deliveries are on time, but reducing delays can significantly improve customer satisfaction.</a:t>
            </a:r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CASE 3: Average Traffic Delay per Route.</a:t>
            </a:r>
          </a:p>
          <a:p>
            <a:endParaRPr lang="en-US" sz="1400" b="1" dirty="0"/>
          </a:p>
          <a:p>
            <a:r>
              <a:rPr lang="en-US" sz="1400" b="1" dirty="0"/>
              <a:t>QUERY:</a:t>
            </a:r>
          </a:p>
          <a:p>
            <a:endParaRPr lang="en-US" sz="1400" b="1" dirty="0"/>
          </a:p>
          <a:p>
            <a:r>
              <a:rPr lang="en-US" sz="1400" dirty="0"/>
              <a:t>SELECT	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Route_ID</a:t>
            </a:r>
            <a:r>
              <a:rPr lang="en-US" sz="1400" dirty="0"/>
              <a:t>,    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Start_Location</a:t>
            </a:r>
            <a:r>
              <a:rPr lang="en-US" sz="1400" dirty="0"/>
              <a:t>,    </a:t>
            </a:r>
          </a:p>
          <a:p>
            <a:r>
              <a:rPr lang="en-US" sz="1400" dirty="0"/>
              <a:t>	</a:t>
            </a:r>
            <a:r>
              <a:rPr lang="en-US" sz="1400" dirty="0" err="1"/>
              <a:t>End_Location</a:t>
            </a:r>
            <a:r>
              <a:rPr lang="en-US" sz="1400" dirty="0"/>
              <a:t>,	</a:t>
            </a:r>
          </a:p>
          <a:p>
            <a:r>
              <a:rPr lang="en-US" sz="1400" dirty="0"/>
              <a:t>	AVG(</a:t>
            </a:r>
            <a:r>
              <a:rPr lang="en-US" sz="1400" dirty="0" err="1"/>
              <a:t>Traffic_Delay_Min</a:t>
            </a:r>
            <a:r>
              <a:rPr lang="en-US" sz="1400" dirty="0"/>
              <a:t>) AS </a:t>
            </a:r>
            <a:r>
              <a:rPr lang="en-US" sz="1400" dirty="0" err="1"/>
              <a:t>Avg_Traffic_Delay</a:t>
            </a:r>
            <a:endParaRPr lang="en-US" sz="1400" dirty="0"/>
          </a:p>
          <a:p>
            <a:r>
              <a:rPr lang="en-US" sz="1400" dirty="0"/>
              <a:t>FROM routes</a:t>
            </a:r>
          </a:p>
          <a:p>
            <a:r>
              <a:rPr lang="en-US" sz="1400" dirty="0"/>
              <a:t>GROUP BY </a:t>
            </a:r>
            <a:r>
              <a:rPr lang="en-US" sz="1400" dirty="0" err="1"/>
              <a:t>Route_ID</a:t>
            </a:r>
            <a:r>
              <a:rPr lang="en-US" sz="1400" dirty="0"/>
              <a:t>, </a:t>
            </a:r>
            <a:r>
              <a:rPr lang="en-US" sz="1400" dirty="0" err="1"/>
              <a:t>Start_Location</a:t>
            </a:r>
            <a:r>
              <a:rPr lang="en-US" sz="1400" dirty="0"/>
              <a:t>, </a:t>
            </a:r>
            <a:r>
              <a:rPr lang="en-US" sz="1400" dirty="0" err="1"/>
              <a:t>End_Location</a:t>
            </a:r>
            <a:r>
              <a:rPr lang="en-US" sz="1400" dirty="0"/>
              <a:t>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E8210A-A0A4-07BF-6B0D-6B78C17EE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68" y="2511629"/>
            <a:ext cx="2877657" cy="82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09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9F12AE-BF25-B3B8-0692-FA84A127DE9A}"/>
              </a:ext>
            </a:extLst>
          </p:cNvPr>
          <p:cNvSpPr txBox="1"/>
          <p:nvPr/>
        </p:nvSpPr>
        <p:spPr>
          <a:xfrm>
            <a:off x="68826" y="0"/>
            <a:ext cx="12123174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Output: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Insight: RT_01(67 min) </a:t>
            </a:r>
            <a:r>
              <a:rPr lang="en-US" sz="1400" dirty="0"/>
              <a:t>has the </a:t>
            </a:r>
            <a:r>
              <a:rPr lang="en-US" sz="1400" b="1" dirty="0"/>
              <a:t>highest</a:t>
            </a:r>
            <a:r>
              <a:rPr lang="en-US" sz="1400" dirty="0"/>
              <a:t> traffic delay, while </a:t>
            </a:r>
            <a:r>
              <a:rPr lang="en-US" sz="1400" b="1" dirty="0"/>
              <a:t>RT_06 and RT_10 (both 15 min) </a:t>
            </a:r>
            <a:r>
              <a:rPr lang="en-US" sz="1400" dirty="0"/>
              <a:t>performs best with </a:t>
            </a:r>
            <a:r>
              <a:rPr lang="en-US" sz="1400" b="1" dirty="0"/>
              <a:t>minimal</a:t>
            </a:r>
            <a:r>
              <a:rPr lang="en-US" sz="1400" dirty="0"/>
              <a:t> delays.</a:t>
            </a:r>
          </a:p>
          <a:p>
            <a:endParaRPr lang="en-US" sz="1400" b="1" dirty="0"/>
          </a:p>
          <a:p>
            <a:r>
              <a:rPr lang="en-US" sz="1400" b="1" dirty="0"/>
              <a:t>Recommendation:</a:t>
            </a:r>
          </a:p>
          <a:p>
            <a:endParaRPr lang="en-US" sz="1400" dirty="0"/>
          </a:p>
          <a:p>
            <a:r>
              <a:rPr lang="en-US" sz="1400" dirty="0"/>
              <a:t>Improve high delay routes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Better route planning.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Avoid peak traffic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Alternative routes.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C35F28-E9D9-B99F-FCEF-97D2BE938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44" y="78658"/>
            <a:ext cx="4906288" cy="40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00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76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B0797E7-80CC-170C-52E5-8A675E15F4DF}"/>
              </a:ext>
            </a:extLst>
          </p:cNvPr>
          <p:cNvSpPr txBox="1"/>
          <p:nvPr/>
        </p:nvSpPr>
        <p:spPr>
          <a:xfrm>
            <a:off x="789708" y="666351"/>
            <a:ext cx="10558405" cy="30443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575428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7317</TotalTime>
  <Words>2908</Words>
  <Application>Microsoft Office PowerPoint</Application>
  <PresentationFormat>Widescreen</PresentationFormat>
  <Paragraphs>569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Logistics Optimization for Delivery Routes – Flipkart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Srivastav</dc:creator>
  <cp:lastModifiedBy>Harsh Srivastav</cp:lastModifiedBy>
  <cp:revision>54</cp:revision>
  <dcterms:created xsi:type="dcterms:W3CDTF">2026-04-29T08:12:55Z</dcterms:created>
  <dcterms:modified xsi:type="dcterms:W3CDTF">2026-09-08T20:46:49Z</dcterms:modified>
</cp:coreProperties>
</file>